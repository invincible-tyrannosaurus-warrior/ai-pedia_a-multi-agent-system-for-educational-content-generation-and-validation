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 id="263"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 Id="rId17"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Understanding Transformers in Machine Learning</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Transformers</a:t>
            </a:r>
          </a:p>
        </p:txBody>
      </p:sp>
      <p:sp>
        <p:nvSpPr>
          <p:cNvPr id="3" name="Content Placeholder 2"/>
          <p:cNvSpPr>
            <a:spLocks noGrp="1"/>
          </p:cNvSpPr>
          <p:nvPr>
            <p:ph idx="11" sz="quarter"/>
          </p:nvPr>
        </p:nvSpPr>
        <p:spPr/>
        <p:txBody>
          <a:bodyPr/>
          <a:lstStyle/>
          <a:p>
            <a:pPr>
              <a:defRPr>
                <a:solidFill>
                  <a:srgbClr val="000000"/>
                </a:solidFill>
              </a:defRPr>
            </a:pPr>
            <a:r>
              <a:t>Transformers are a type of model architecture that are pivotal in the field of machine learning, particularly in natural language processing. Originally proposed in 'Attention is All You Need' by Vaswani et al., transformers have revolutionized tasks like translation and text generation by utilizing mechanisms of attention to understand context relationships in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Concept: Attention Mechanisms</a:t>
            </a:r>
          </a:p>
        </p:txBody>
      </p:sp>
      <p:sp>
        <p:nvSpPr>
          <p:cNvPr id="3" name="Content Placeholder 2"/>
          <p:cNvSpPr>
            <a:spLocks noGrp="1"/>
          </p:cNvSpPr>
          <p:nvPr>
            <p:ph idx="12" sz="quarter"/>
          </p:nvPr>
        </p:nvSpPr>
        <p:spPr/>
        <p:txBody>
          <a:bodyPr/>
          <a:lstStyle/>
          <a:p>
            <a:pPr>
              <a:defRPr>
                <a:solidFill>
                  <a:srgbClr val="000000"/>
                </a:solidFill>
              </a:defRPr>
            </a:pPr>
            <a:r>
              <a:t>Why does attention matter to transformers?</a:t>
            </a:r>
          </a:p>
          <a:p>
            <a:pPr>
              <a:defRPr>
                <a:solidFill>
                  <a:srgbClr val="000000"/>
                </a:solidFill>
              </a:defRPr>
            </a:pPr>
            <a:r>
              <a:t>- Allows the model to weigh the importance of different input parts.</a:t>
            </a:r>
          </a:p>
          <a:p>
            <a:pPr>
              <a:defRPr>
                <a:solidFill>
                  <a:srgbClr val="000000"/>
                </a:solidFill>
              </a:defRPr>
            </a:pPr>
            <a:r>
              <a:t>- Improves the understanding of context, crucial for tasks like language translations.</a:t>
            </a:r>
          </a:p>
        </p:txBody>
      </p:sp>
      <p:sp>
        <p:nvSpPr>
          <p:cNvPr id="4" name="Content Placeholder 3"/>
          <p:cNvSpPr>
            <a:spLocks noGrp="1"/>
          </p:cNvSpPr>
          <p:nvPr>
            <p:ph idx="13"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Transformer Architecture Basics</a:t>
            </a:r>
          </a:p>
        </p:txBody>
      </p:sp>
      <p:sp>
        <p:nvSpPr>
          <p:cNvPr id="3" name="Content Placeholder 2"/>
          <p:cNvSpPr>
            <a:spLocks noGrp="1"/>
          </p:cNvSpPr>
          <p:nvPr>
            <p:ph idx="12" sz="quarter"/>
          </p:nvPr>
        </p:nvSpPr>
        <p:spPr/>
        <p:txBody>
          <a:bodyPr/>
          <a:lstStyle/>
          <a:p>
            <a:pPr>
              <a:defRPr>
                <a:solidFill>
                  <a:srgbClr val="000000"/>
                </a:solidFill>
              </a:defRPr>
            </a:pPr>
            <a:r>
              <a:t>Key Components:</a:t>
            </a:r>
          </a:p>
          <a:p>
            <a:pPr>
              <a:defRPr>
                <a:solidFill>
                  <a:srgbClr val="000000"/>
                </a:solidFill>
              </a:defRPr>
            </a:pPr>
            <a:r>
              <a:t>- Encoder: Processes input data.</a:t>
            </a:r>
          </a:p>
          <a:p>
            <a:pPr>
              <a:defRPr>
                <a:solidFill>
                  <a:srgbClr val="000000"/>
                </a:solidFill>
              </a:defRPr>
            </a:pPr>
            <a:r>
              <a:t>- Decoder: Generates output.</a:t>
            </a:r>
          </a:p>
          <a:p>
            <a:pPr>
              <a:defRPr>
                <a:solidFill>
                  <a:srgbClr val="000000"/>
                </a:solidFill>
              </a:defRPr>
            </a:pPr>
            <a:r>
              <a:t>- Self-Attention Layers: Allow encoding of context from long sequences.</a:t>
            </a:r>
          </a:p>
        </p:txBody>
      </p:sp>
      <p:sp>
        <p:nvSpPr>
          <p:cNvPr id="4" name="Content Placeholder 3"/>
          <p:cNvSpPr>
            <a:spLocks noGrp="1"/>
          </p:cNvSpPr>
          <p:nvPr>
            <p:ph idx="13"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Example: Polynomial Features</a:t>
            </a:r>
          </a:p>
        </p:txBody>
      </p:sp>
      <p:sp>
        <p:nvSpPr>
          <p:cNvPr id="3" name="Content Placeholder 2"/>
          <p:cNvSpPr>
            <a:spLocks noGrp="1"/>
          </p:cNvSpPr>
          <p:nvPr>
            <p:ph idx="12" sz="quarter"/>
          </p:nvPr>
        </p:nvSpPr>
        <p:spPr/>
        <p:txBody>
          <a:bodyPr/>
          <a:lstStyle/>
          <a:p>
            <a:pPr>
              <a:defRPr>
                <a:solidFill>
                  <a:srgbClr val="000000"/>
                </a:solidFill>
              </a:defRPr>
            </a:pPr>
            <a:r>
              <a:t>How transformers can enhance polynomial regression models:</a:t>
            </a:r>
          </a:p>
          <a:p>
            <a:pPr>
              <a:defRPr>
                <a:solidFill>
                  <a:srgbClr val="000000"/>
                </a:solidFill>
              </a:defRPr>
            </a:pPr>
            <a:r>
              <a:t>- They add polynomial features to linear models, increasing the model's complexity and accuracy without overfitting.</a:t>
            </a:r>
          </a:p>
        </p:txBody>
      </p:sp>
      <p:sp>
        <p:nvSpPr>
          <p:cNvPr id="4" name="Content Placeholder 3"/>
          <p:cNvSpPr>
            <a:spLocks noGrp="1"/>
          </p:cNvSpPr>
          <p:nvPr>
            <p:ph idx="13" sz="quarter"/>
          </p:nvPr>
        </p:nvSpPr>
        <p:spPr/>
        <p:txBody>
          <a:bodyPr/>
          <a:lstStyle/>
          <a:p/>
        </p:txBody>
      </p:sp>
      <p:pic>
        <p:nvPicPr>
          <p:cNvPr id="5" name="Picture 4" descr="generated_code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Comparing Models: Linear vs. Polynomial</a:t>
            </a:r>
          </a:p>
        </p:txBody>
      </p:sp>
      <p:sp>
        <p:nvSpPr>
          <p:cNvPr id="3" name="Content Placeholder 2"/>
          <p:cNvSpPr>
            <a:spLocks noGrp="1"/>
          </p:cNvSpPr>
          <p:nvPr>
            <p:ph idx="12" sz="quarter"/>
          </p:nvPr>
        </p:nvSpPr>
        <p:spPr/>
        <p:txBody>
          <a:bodyPr/>
          <a:lstStyle/>
          <a:p>
            <a:pPr>
              <a:defRPr>
                <a:solidFill>
                  <a:srgbClr val="000000"/>
                </a:solidFill>
              </a:defRPr>
            </a:pPr>
            <a:r>
              <a:t>- Linear Model: Fits data with a straight line.</a:t>
            </a:r>
          </a:p>
          <a:p>
            <a:pPr>
              <a:defRPr>
                <a:solidFill>
                  <a:srgbClr val="000000"/>
                </a:solidFill>
              </a:defRPr>
            </a:pPr>
            <a:r>
              <a:t>- Polynomial Model: Uses curves for a better fit.</a:t>
            </a:r>
          </a:p>
        </p:txBody>
      </p:sp>
      <p:sp>
        <p:nvSpPr>
          <p:cNvPr id="4" name="Content Placeholder 3"/>
          <p:cNvSpPr>
            <a:spLocks noGrp="1"/>
          </p:cNvSpPr>
          <p:nvPr>
            <p:ph idx="13"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Impact</a:t>
            </a:r>
          </a:p>
        </p:txBody>
      </p:sp>
      <p:sp>
        <p:nvSpPr>
          <p:cNvPr id="3" name="Content Placeholder 2"/>
          <p:cNvSpPr>
            <a:spLocks noGrp="1"/>
          </p:cNvSpPr>
          <p:nvPr>
            <p:ph idx="12" sz="quarter"/>
          </p:nvPr>
        </p:nvSpPr>
        <p:spPr/>
        <p:txBody>
          <a:bodyPr/>
          <a:lstStyle/>
          <a:p>
            <a:pPr>
              <a:defRPr>
                <a:solidFill>
                  <a:srgbClr val="000000"/>
                </a:solidFill>
              </a:defRPr>
            </a:pPr>
            <a:r>
              <a:t>How have transformers transformed domains like NLP?</a:t>
            </a:r>
          </a:p>
          <a:p>
            <a:pPr>
              <a:defRPr>
                <a:solidFill>
                  <a:srgbClr val="000000"/>
                </a:solidFill>
              </a:defRPr>
            </a:pPr>
            <a:r>
              <a:t>- Enhanced translation services.</a:t>
            </a:r>
          </a:p>
          <a:p>
            <a:pPr>
              <a:defRPr>
                <a:solidFill>
                  <a:srgbClr val="000000"/>
                </a:solidFill>
              </a:defRPr>
            </a:pPr>
            <a:r>
              <a:t>- Advanced chatbots and virtual assistants.</a:t>
            </a:r>
          </a:p>
          <a:p>
            <a:pPr>
              <a:defRPr>
                <a:solidFill>
                  <a:srgbClr val="000000"/>
                </a:solidFill>
              </a:defRPr>
            </a:pPr>
            <a:r>
              <a:t>- Breakthroughs in text-to-speech systems.</a:t>
            </a:r>
          </a:p>
        </p:txBody>
      </p:sp>
      <p:sp>
        <p:nvSpPr>
          <p:cNvPr id="4" name="Content Placeholder 3"/>
          <p:cNvSpPr>
            <a:spLocks noGrp="1"/>
          </p:cNvSpPr>
          <p:nvPr>
            <p:ph idx="13"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The Future of Transformers</a:t>
            </a:r>
          </a:p>
        </p:txBody>
      </p:sp>
      <p:sp>
        <p:nvSpPr>
          <p:cNvPr id="3" name="Content Placeholder 2"/>
          <p:cNvSpPr>
            <a:spLocks noGrp="1"/>
          </p:cNvSpPr>
          <p:nvPr>
            <p:ph idx="11" sz="quarter"/>
          </p:nvPr>
        </p:nvSpPr>
        <p:spPr/>
        <p:txBody>
          <a:bodyPr/>
          <a:lstStyle/>
          <a:p>
            <a:pPr>
              <a:defRPr>
                <a:solidFill>
                  <a:srgbClr val="000000"/>
                </a:solidFill>
              </a:defRPr>
            </a:pPr>
            <a:r>
              <a:t>Transformers represent a paradigm shift in machine learning, especially for sequential data processing. With ongoing research, they hold the promise of greater innovation and evolution in AI technology, allowing for even more sophisticated and efficient models.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
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84"/>
    <p:restoredTop sz="94726"/>
  </p:normalViewPr>
  <p:slideViewPr>
    <p:cSldViewPr snapToGrid="0">
      <p:cViewPr varScale="1">
        <p:scale>
          <a:sx n="78" d="100"/>
          <a:sy n="78" d="100"/>
        </p:scale>
        <p:origin x="86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W, EFFIE L." userId="1c3177ca-747b-4691-ad45-4cbdbc050fd1" providerId="ADAL" clId="{06734445-D490-4A90-AC2A-6257025627FB}"/>
    <pc:docChg chg="modSld">
      <pc:chgData name="LAW, EFFIE L." userId="1c3177ca-747b-4691-ad45-4cbdbc050fd1" providerId="ADAL" clId="{06734445-D490-4A90-AC2A-6257025627FB}" dt="2025-10-03T09:12:37.245" v="30" actId="20577"/>
      <pc:docMkLst>
        <pc:docMk/>
      </pc:docMkLst>
      <pc:sldChg chg="modSp mod">
        <pc:chgData name="LAW, EFFIE L." userId="1c3177ca-747b-4691-ad45-4cbdbc050fd1" providerId="ADAL" clId="{06734445-D490-4A90-AC2A-6257025627FB}" dt="2025-10-03T09:12:37.245" v="30" actId="20577"/>
        <pc:sldMkLst>
          <pc:docMk/>
          <pc:sldMk cId="775193986" sldId="258"/>
        </pc:sldMkLst>
        <pc:spChg chg="mod">
          <ac:chgData name="LAW, EFFIE L." userId="1c3177ca-747b-4691-ad45-4cbdbc050fd1" providerId="ADAL" clId="{06734445-D490-4A90-AC2A-6257025627FB}" dt="2025-10-03T09:12:37.245" v="30" actId="20577"/>
          <ac:spMkLst>
            <pc:docMk/>
            <pc:sldMk cId="775193986" sldId="258"/>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urham Title Slide - Purple">
    <p:bg>
      <p:bgPr>
        <a:solidFill>
          <a:schemeClr val="bg2"/>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2" name="Picture 11"/>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3032838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Durham Title Slide – Blue">
    <p:bg>
      <p:bgPr>
        <a:solidFill>
          <a:schemeClr val="accent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8" name="Picture 17"/>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602078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urham Title Slide – Gold">
    <p:bg>
      <p:bgPr>
        <a:solidFill>
          <a:srgbClr val="B3BDB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7" name="Picture 16"/>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5689417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Durham Title Slide - Yellow">
    <p:bg>
      <p:bgPr>
        <a:solidFill>
          <a:schemeClr val="accent6"/>
        </a:soli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rgbClr val="002A4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6" name="Picture 15"/>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1488312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Durham Title Slide – Red">
    <p:bg>
      <p:bgPr>
        <a:solidFill>
          <a:srgbClr val="B6AAA7"/>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5334000" y="0"/>
            <a:ext cx="6858000" cy="6858000"/>
          </a:xfrm>
          <a:prstGeom prst="rect">
            <a:avLst/>
          </a:prstGeom>
        </p:spPr>
      </p:pic>
      <p:sp>
        <p:nvSpPr>
          <p:cNvPr id="2" name="Title 1"/>
          <p:cNvSpPr>
            <a:spLocks noGrp="1"/>
          </p:cNvSpPr>
          <p:nvPr>
            <p:ph type="ctrTitle"/>
          </p:nvPr>
        </p:nvSpPr>
        <p:spPr>
          <a:xfrm>
            <a:off x="930339" y="1672217"/>
            <a:ext cx="4428563" cy="1470025"/>
          </a:xfrm>
        </p:spPr>
        <p:txBody>
          <a:bodyPr lIns="0" tIns="0" rIns="0" bIns="0" anchor="t">
            <a:noAutofit/>
          </a:bodyPr>
          <a:lstStyle>
            <a:lvl1pPr algn="l">
              <a:lnSpc>
                <a:spcPct val="85000"/>
              </a:lnSpc>
              <a:defRPr sz="3733" b="1">
                <a:solidFill>
                  <a:schemeClr val="tx1"/>
                </a:solidFill>
                <a:latin typeface="Arial"/>
                <a:cs typeface="Arial"/>
              </a:defRPr>
            </a:lvl1pPr>
          </a:lstStyle>
          <a:p>
            <a:r>
              <a:rPr lang="en-US"/>
              <a:t>Click to edit Master title style</a:t>
            </a:r>
          </a:p>
        </p:txBody>
      </p:sp>
      <p:sp>
        <p:nvSpPr>
          <p:cNvPr id="3" name="Subtitle 2"/>
          <p:cNvSpPr>
            <a:spLocks noGrp="1"/>
          </p:cNvSpPr>
          <p:nvPr>
            <p:ph type="subTitle" idx="1"/>
          </p:nvPr>
        </p:nvSpPr>
        <p:spPr>
          <a:xfrm>
            <a:off x="930339" y="3093911"/>
            <a:ext cx="4428563" cy="1752600"/>
          </a:xfrm>
        </p:spPr>
        <p:txBody>
          <a:bodyPr lIns="0" tIns="0" rIns="0" bIns="0" anchor="t">
            <a:noAutofit/>
          </a:bodyPr>
          <a:lstStyle>
            <a:lvl1pPr marL="0" indent="0" algn="l">
              <a:lnSpc>
                <a:spcPct val="90000"/>
              </a:lnSpc>
              <a:buNone/>
              <a:defRPr sz="2667">
                <a:solidFill>
                  <a:srgbClr val="002A41"/>
                </a:solidFill>
                <a:latin typeface="Arial"/>
                <a:cs typeface="Aria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p>
        </p:txBody>
      </p:sp>
      <p:pic>
        <p:nvPicPr>
          <p:cNvPr id="14" name="Picture 13"/>
          <p:cNvPicPr>
            <a:picLocks noChangeAspect="1"/>
          </p:cNvPicPr>
          <p:nvPr userDrawn="1"/>
        </p:nvPicPr>
        <p:blipFill>
          <a:blip r:embed="rId3"/>
          <a:stretch>
            <a:fillRect/>
          </a:stretch>
        </p:blipFill>
        <p:spPr>
          <a:xfrm>
            <a:off x="340659" y="328401"/>
            <a:ext cx="2118005" cy="878747"/>
          </a:xfrm>
          <a:prstGeom prst="rect">
            <a:avLst/>
          </a:prstGeom>
        </p:spPr>
      </p:pic>
    </p:spTree>
    <p:extLst>
      <p:ext uri="{BB962C8B-B14F-4D97-AF65-F5344CB8AC3E}">
        <p14:creationId xmlns:p14="http://schemas.microsoft.com/office/powerpoint/2010/main" val="2247780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urham Text Slide - 1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4" name="Content Placeholder 3"/>
          <p:cNvSpPr>
            <a:spLocks noGrp="1"/>
          </p:cNvSpPr>
          <p:nvPr>
            <p:ph sz="quarter" idx="11"/>
          </p:nvPr>
        </p:nvSpPr>
        <p:spPr>
          <a:xfrm>
            <a:off x="828737" y="1632944"/>
            <a:ext cx="7603571"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49196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rham Text Slide - 2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rgbClr val="54145A"/>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0" name="Content Placeholder 3"/>
          <p:cNvSpPr>
            <a:spLocks noGrp="1"/>
          </p:cNvSpPr>
          <p:nvPr>
            <p:ph sz="quarter" idx="12"/>
          </p:nvPr>
        </p:nvSpPr>
        <p:spPr>
          <a:xfrm>
            <a:off x="828738"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2" name="Content Placeholder 3"/>
          <p:cNvSpPr>
            <a:spLocks noGrp="1"/>
          </p:cNvSpPr>
          <p:nvPr>
            <p:ph sz="quarter" idx="13"/>
          </p:nvPr>
        </p:nvSpPr>
        <p:spPr>
          <a:xfrm>
            <a:off x="6289002" y="1632944"/>
            <a:ext cx="5076253" cy="3886200"/>
          </a:xfrm>
        </p:spPr>
        <p:txBody>
          <a:bodyPr lIns="0" tIns="0" rIns="0" bIns="0">
            <a:noAutofit/>
          </a:bodyPr>
          <a:lstStyle>
            <a:lvl1pPr marL="0" indent="0">
              <a:spcBef>
                <a:spcPts val="1067"/>
              </a:spcBef>
              <a:buNone/>
              <a:defRPr sz="2400">
                <a:solidFill>
                  <a:srgbClr val="002A41"/>
                </a:solidFill>
                <a:latin typeface="Arial"/>
                <a:cs typeface="Arial"/>
              </a:defRPr>
            </a:lvl1pPr>
            <a:lvl2pPr marL="383990" indent="-383990">
              <a:spcBef>
                <a:spcPts val="1067"/>
              </a:spcBef>
              <a:buClr>
                <a:srgbClr val="68246D"/>
              </a:buClr>
              <a:buFont typeface="Arial"/>
              <a:buChar char="•"/>
              <a:defRPr sz="2400">
                <a:solidFill>
                  <a:srgbClr val="002A41"/>
                </a:solidFill>
                <a:latin typeface="Arial"/>
                <a:cs typeface="Arial"/>
              </a:defRPr>
            </a:lvl2pPr>
            <a:lvl3pPr marL="767981" indent="-383990">
              <a:spcBef>
                <a:spcPts val="1067"/>
              </a:spcBef>
              <a:buFont typeface="Lucida Grande"/>
              <a:buChar char="–"/>
              <a:defRPr sz="2400">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70916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urham Text Slide - 3 col">
    <p:spTree>
      <p:nvGrpSpPr>
        <p:cNvPr id="1" name=""/>
        <p:cNvGrpSpPr/>
        <p:nvPr/>
      </p:nvGrpSpPr>
      <p:grpSpPr>
        <a:xfrm>
          <a:off x="0" y="0"/>
          <a:ext cx="0" cy="0"/>
          <a:chOff x="0" y="0"/>
          <a:chExt cx="0" cy="0"/>
        </a:xfrm>
      </p:grpSpPr>
      <p:sp>
        <p:nvSpPr>
          <p:cNvPr id="2" name="Title 1"/>
          <p:cNvSpPr>
            <a:spLocks noGrp="1"/>
          </p:cNvSpPr>
          <p:nvPr>
            <p:ph type="title"/>
          </p:nvPr>
        </p:nvSpPr>
        <p:spPr>
          <a:xfrm>
            <a:off x="828737" y="369979"/>
            <a:ext cx="10536517" cy="1143000"/>
          </a:xfrm>
        </p:spPr>
        <p:txBody>
          <a:bodyPr lIns="0" tIns="0" rIns="0" bIns="0" anchor="t">
            <a:noAutofit/>
          </a:bodyPr>
          <a:lstStyle>
            <a:lvl1pPr algn="l">
              <a:defRPr sz="3200" b="1">
                <a:solidFill>
                  <a:schemeClr val="tx2"/>
                </a:solidFill>
                <a:latin typeface="Arial"/>
                <a:cs typeface="Arial"/>
              </a:defRPr>
            </a:lvl1pPr>
          </a:lstStyle>
          <a:p>
            <a:r>
              <a:rPr lang="en-US"/>
              <a:t>Click to edit Master 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12" name="Content Placeholder 3"/>
          <p:cNvSpPr>
            <a:spLocks noGrp="1"/>
          </p:cNvSpPr>
          <p:nvPr>
            <p:ph sz="quarter" idx="13"/>
          </p:nvPr>
        </p:nvSpPr>
        <p:spPr>
          <a:xfrm>
            <a:off x="82873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4" name="Content Placeholder 3"/>
          <p:cNvSpPr>
            <a:spLocks noGrp="1"/>
          </p:cNvSpPr>
          <p:nvPr>
            <p:ph sz="quarter" idx="14"/>
          </p:nvPr>
        </p:nvSpPr>
        <p:spPr>
          <a:xfrm>
            <a:off x="4473629"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
        <p:nvSpPr>
          <p:cNvPr id="15" name="Content Placeholder 3"/>
          <p:cNvSpPr>
            <a:spLocks noGrp="1"/>
          </p:cNvSpPr>
          <p:nvPr>
            <p:ph sz="quarter" idx="15"/>
          </p:nvPr>
        </p:nvSpPr>
        <p:spPr>
          <a:xfrm>
            <a:off x="8118518" y="1632944"/>
            <a:ext cx="3246737" cy="3886200"/>
          </a:xfrm>
        </p:spPr>
        <p:txBody>
          <a:bodyPr lIns="0" tIns="0" rIns="0" bIns="0">
            <a:noAutofit/>
          </a:bodyPr>
          <a:lstStyle>
            <a:lvl1pPr marL="0" indent="0">
              <a:spcBef>
                <a:spcPts val="533"/>
              </a:spcBef>
              <a:buNone/>
              <a:defRPr sz="1867">
                <a:solidFill>
                  <a:srgbClr val="002A41"/>
                </a:solidFill>
                <a:latin typeface="Arial"/>
                <a:cs typeface="Arial"/>
              </a:defRPr>
            </a:lvl1pPr>
            <a:lvl2pPr marL="383990" indent="-383990">
              <a:spcBef>
                <a:spcPts val="533"/>
              </a:spcBef>
              <a:buClr>
                <a:srgbClr val="68246D"/>
              </a:buClr>
              <a:buFont typeface="Arial"/>
              <a:buChar char="•"/>
              <a:defRPr sz="1867">
                <a:solidFill>
                  <a:srgbClr val="002A41"/>
                </a:solidFill>
                <a:latin typeface="Arial"/>
                <a:cs typeface="Arial"/>
              </a:defRPr>
            </a:lvl2pPr>
            <a:lvl3pPr marL="767981" indent="-383990">
              <a:spcBef>
                <a:spcPts val="533"/>
              </a:spcBef>
              <a:buFont typeface="Lucida Grande"/>
              <a:buChar char="–"/>
              <a:defRPr sz="1867">
                <a:solidFill>
                  <a:srgbClr val="002A41"/>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4770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urham Breaker Slide">
    <p:bg>
      <p:bgPr>
        <a:solidFill>
          <a:srgbClr val="A5C8D0"/>
        </a:soli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45986" y="6230447"/>
            <a:ext cx="1020673" cy="423471"/>
          </a:xfrm>
          <a:prstGeom prst="rect">
            <a:avLst/>
          </a:prstGeom>
        </p:spPr>
      </p:pic>
      <p:sp>
        <p:nvSpPr>
          <p:cNvPr id="6" name="Content Placeholder 3"/>
          <p:cNvSpPr>
            <a:spLocks noGrp="1"/>
          </p:cNvSpPr>
          <p:nvPr>
            <p:ph sz="quarter" idx="11"/>
          </p:nvPr>
        </p:nvSpPr>
        <p:spPr>
          <a:xfrm>
            <a:off x="2844658" y="1632944"/>
            <a:ext cx="6891867" cy="3886200"/>
          </a:xfrm>
        </p:spPr>
        <p:txBody>
          <a:bodyPr lIns="0" tIns="0" rIns="0" bIns="0">
            <a:noAutofit/>
          </a:bodyPr>
          <a:lstStyle>
            <a:lvl1pPr marL="0" indent="0">
              <a:spcBef>
                <a:spcPts val="1333"/>
              </a:spcBef>
              <a:buNone/>
              <a:defRPr sz="3200">
                <a:solidFill>
                  <a:srgbClr val="54145A"/>
                </a:solidFill>
                <a:latin typeface="Arial"/>
                <a:cs typeface="Arial"/>
              </a:defRPr>
            </a:lvl1pPr>
            <a:lvl2pPr marL="383990" indent="-383990">
              <a:spcBef>
                <a:spcPts val="1333"/>
              </a:spcBef>
              <a:buClr>
                <a:srgbClr val="68246D"/>
              </a:buClr>
              <a:buFont typeface="Arial"/>
              <a:buChar char="•"/>
              <a:defRPr sz="3200">
                <a:solidFill>
                  <a:srgbClr val="54145A"/>
                </a:solidFill>
                <a:latin typeface="Arial"/>
                <a:cs typeface="Arial"/>
              </a:defRPr>
            </a:lvl2pPr>
            <a:lvl3pPr marL="767981" indent="-383990">
              <a:spcBef>
                <a:spcPts val="1333"/>
              </a:spcBef>
              <a:buFont typeface="Lucida Grande"/>
              <a:buChar char="–"/>
              <a:defRPr sz="3200">
                <a:solidFill>
                  <a:srgbClr val="54145A"/>
                </a:solidFill>
                <a:latin typeface="Arial"/>
                <a:cs typeface="Arial"/>
              </a:defRPr>
            </a:lvl3pPr>
            <a:lvl4pPr>
              <a:defRPr sz="2400">
                <a:latin typeface="Arial"/>
                <a:cs typeface="Arial"/>
              </a:defRPr>
            </a:lvl4pPr>
            <a:lvl5pPr>
              <a:defRPr sz="2400">
                <a:latin typeface="Arial"/>
                <a:cs typeface="Arial"/>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46740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705600" y="4114798"/>
            <a:ext cx="1379855" cy="1371600"/>
          </a:xfrm>
          <a:custGeom>
            <a:avLst/>
            <a:gdLst/>
            <a:ahLst/>
            <a:cxnLst/>
            <a:rect l="l" t="t" r="r" b="b"/>
            <a:pathLst>
              <a:path w="1379854" h="1371600">
                <a:moveTo>
                  <a:pt x="1371600" y="0"/>
                </a:moveTo>
                <a:lnTo>
                  <a:pt x="0" y="1"/>
                </a:lnTo>
                <a:lnTo>
                  <a:pt x="1143" y="56376"/>
                </a:lnTo>
                <a:lnTo>
                  <a:pt x="3900" y="104096"/>
                </a:lnTo>
                <a:lnTo>
                  <a:pt x="8267" y="151363"/>
                </a:lnTo>
                <a:lnTo>
                  <a:pt x="14218" y="198148"/>
                </a:lnTo>
                <a:lnTo>
                  <a:pt x="21725" y="244427"/>
                </a:lnTo>
                <a:lnTo>
                  <a:pt x="30761" y="290170"/>
                </a:lnTo>
                <a:lnTo>
                  <a:pt x="41298" y="335352"/>
                </a:lnTo>
                <a:lnTo>
                  <a:pt x="53309" y="379944"/>
                </a:lnTo>
                <a:lnTo>
                  <a:pt x="66767" y="423921"/>
                </a:lnTo>
                <a:lnTo>
                  <a:pt x="81645" y="467255"/>
                </a:lnTo>
                <a:lnTo>
                  <a:pt x="97914" y="509919"/>
                </a:lnTo>
                <a:lnTo>
                  <a:pt x="115548" y="551886"/>
                </a:lnTo>
                <a:lnTo>
                  <a:pt x="134519" y="593129"/>
                </a:lnTo>
                <a:lnTo>
                  <a:pt x="154800" y="633622"/>
                </a:lnTo>
                <a:lnTo>
                  <a:pt x="176363" y="673336"/>
                </a:lnTo>
                <a:lnTo>
                  <a:pt x="199182" y="712244"/>
                </a:lnTo>
                <a:lnTo>
                  <a:pt x="223228" y="750321"/>
                </a:lnTo>
                <a:lnTo>
                  <a:pt x="248475" y="787539"/>
                </a:lnTo>
                <a:lnTo>
                  <a:pt x="274895" y="823870"/>
                </a:lnTo>
                <a:lnTo>
                  <a:pt x="302461" y="859288"/>
                </a:lnTo>
                <a:lnTo>
                  <a:pt x="331145" y="893766"/>
                </a:lnTo>
                <a:lnTo>
                  <a:pt x="360920" y="927276"/>
                </a:lnTo>
                <a:lnTo>
                  <a:pt x="391759" y="959792"/>
                </a:lnTo>
                <a:lnTo>
                  <a:pt x="423633" y="991287"/>
                </a:lnTo>
                <a:lnTo>
                  <a:pt x="456517" y="1021733"/>
                </a:lnTo>
                <a:lnTo>
                  <a:pt x="490383" y="1051104"/>
                </a:lnTo>
                <a:lnTo>
                  <a:pt x="525202" y="1079372"/>
                </a:lnTo>
                <a:lnTo>
                  <a:pt x="560948" y="1106511"/>
                </a:lnTo>
                <a:lnTo>
                  <a:pt x="597594" y="1132493"/>
                </a:lnTo>
                <a:lnTo>
                  <a:pt x="635112" y="1157291"/>
                </a:lnTo>
                <a:lnTo>
                  <a:pt x="673474" y="1180879"/>
                </a:lnTo>
                <a:lnTo>
                  <a:pt x="712654" y="1203229"/>
                </a:lnTo>
                <a:lnTo>
                  <a:pt x="752624" y="1224315"/>
                </a:lnTo>
                <a:lnTo>
                  <a:pt x="793356" y="1244109"/>
                </a:lnTo>
                <a:lnTo>
                  <a:pt x="834824" y="1262584"/>
                </a:lnTo>
                <a:lnTo>
                  <a:pt x="877000" y="1279713"/>
                </a:lnTo>
                <a:lnTo>
                  <a:pt x="919856" y="1295469"/>
                </a:lnTo>
                <a:lnTo>
                  <a:pt x="963365" y="1309825"/>
                </a:lnTo>
                <a:lnTo>
                  <a:pt x="1007500" y="1322754"/>
                </a:lnTo>
                <a:lnTo>
                  <a:pt x="1052234" y="1334230"/>
                </a:lnTo>
                <a:lnTo>
                  <a:pt x="1097539" y="1344224"/>
                </a:lnTo>
                <a:lnTo>
                  <a:pt x="1143387" y="1352711"/>
                </a:lnTo>
                <a:lnTo>
                  <a:pt x="1189752" y="1359662"/>
                </a:lnTo>
                <a:lnTo>
                  <a:pt x="1236606" y="1365051"/>
                </a:lnTo>
                <a:lnTo>
                  <a:pt x="1283921" y="1368851"/>
                </a:lnTo>
                <a:lnTo>
                  <a:pt x="1331671" y="1371035"/>
                </a:lnTo>
                <a:lnTo>
                  <a:pt x="1379828" y="1371575"/>
                </a:lnTo>
                <a:lnTo>
                  <a:pt x="1371600" y="0"/>
                </a:lnTo>
                <a:close/>
              </a:path>
            </a:pathLst>
          </a:custGeom>
          <a:solidFill>
            <a:srgbClr val="565F6F"/>
          </a:solidFill>
        </p:spPr>
        <p:txBody>
          <a:bodyPr wrap="square" lIns="0" tIns="0" rIns="0" bIns="0" rtlCol="0"/>
          <a:lstStyle/>
          <a:p>
            <a:endParaRPr/>
          </a:p>
        </p:txBody>
      </p:sp>
      <p:sp>
        <p:nvSpPr>
          <p:cNvPr id="17" name="bg object 17"/>
          <p:cNvSpPr/>
          <p:nvPr/>
        </p:nvSpPr>
        <p:spPr>
          <a:xfrm>
            <a:off x="8077200" y="0"/>
            <a:ext cx="4114800" cy="6858000"/>
          </a:xfrm>
          <a:custGeom>
            <a:avLst/>
            <a:gdLst/>
            <a:ahLst/>
            <a:cxnLst/>
            <a:rect l="l" t="t" r="r" b="b"/>
            <a:pathLst>
              <a:path w="4114800" h="6858000">
                <a:moveTo>
                  <a:pt x="4114749" y="4098340"/>
                </a:moveTo>
                <a:lnTo>
                  <a:pt x="2743200" y="4106570"/>
                </a:lnTo>
                <a:lnTo>
                  <a:pt x="2743200" y="2743200"/>
                </a:lnTo>
                <a:lnTo>
                  <a:pt x="1371600" y="2743200"/>
                </a:lnTo>
                <a:lnTo>
                  <a:pt x="0" y="2743200"/>
                </a:lnTo>
                <a:lnTo>
                  <a:pt x="0" y="4114800"/>
                </a:lnTo>
                <a:lnTo>
                  <a:pt x="1371600" y="4114800"/>
                </a:lnTo>
                <a:lnTo>
                  <a:pt x="1371600" y="5486400"/>
                </a:lnTo>
                <a:lnTo>
                  <a:pt x="0" y="5486400"/>
                </a:lnTo>
                <a:lnTo>
                  <a:pt x="0" y="6858000"/>
                </a:lnTo>
                <a:lnTo>
                  <a:pt x="1371600" y="6858000"/>
                </a:lnTo>
                <a:lnTo>
                  <a:pt x="1436306" y="6857251"/>
                </a:lnTo>
                <a:lnTo>
                  <a:pt x="1484350" y="6855714"/>
                </a:lnTo>
                <a:lnTo>
                  <a:pt x="1532178" y="6853364"/>
                </a:lnTo>
                <a:lnTo>
                  <a:pt x="1579791" y="6850202"/>
                </a:lnTo>
                <a:lnTo>
                  <a:pt x="1627174" y="6846240"/>
                </a:lnTo>
                <a:lnTo>
                  <a:pt x="1674317" y="6841464"/>
                </a:lnTo>
                <a:lnTo>
                  <a:pt x="1721231" y="6835915"/>
                </a:lnTo>
                <a:lnTo>
                  <a:pt x="1767890" y="6829565"/>
                </a:lnTo>
                <a:lnTo>
                  <a:pt x="1814296" y="6822453"/>
                </a:lnTo>
                <a:lnTo>
                  <a:pt x="1860448" y="6814553"/>
                </a:lnTo>
                <a:lnTo>
                  <a:pt x="1906320" y="6805892"/>
                </a:lnTo>
                <a:lnTo>
                  <a:pt x="1951939" y="6796481"/>
                </a:lnTo>
                <a:lnTo>
                  <a:pt x="1997252" y="6786321"/>
                </a:lnTo>
                <a:lnTo>
                  <a:pt x="2042299" y="6775412"/>
                </a:lnTo>
                <a:lnTo>
                  <a:pt x="2087041" y="6763766"/>
                </a:lnTo>
                <a:lnTo>
                  <a:pt x="2131479" y="6751383"/>
                </a:lnTo>
                <a:lnTo>
                  <a:pt x="2175611" y="6738290"/>
                </a:lnTo>
                <a:lnTo>
                  <a:pt x="2219439" y="6724472"/>
                </a:lnTo>
                <a:lnTo>
                  <a:pt x="2262936" y="6709943"/>
                </a:lnTo>
                <a:lnTo>
                  <a:pt x="2306104" y="6694716"/>
                </a:lnTo>
                <a:lnTo>
                  <a:pt x="2348941" y="6678790"/>
                </a:lnTo>
                <a:lnTo>
                  <a:pt x="2391435" y="6662179"/>
                </a:lnTo>
                <a:lnTo>
                  <a:pt x="2433574" y="6644881"/>
                </a:lnTo>
                <a:lnTo>
                  <a:pt x="2475369" y="6626911"/>
                </a:lnTo>
                <a:lnTo>
                  <a:pt x="2516797" y="6608267"/>
                </a:lnTo>
                <a:lnTo>
                  <a:pt x="2557856" y="6588963"/>
                </a:lnTo>
                <a:lnTo>
                  <a:pt x="2598534" y="6569011"/>
                </a:lnTo>
                <a:lnTo>
                  <a:pt x="2638831" y="6548399"/>
                </a:lnTo>
                <a:lnTo>
                  <a:pt x="2678747" y="6527152"/>
                </a:lnTo>
                <a:lnTo>
                  <a:pt x="2718270" y="6505283"/>
                </a:lnTo>
                <a:lnTo>
                  <a:pt x="2757373" y="6482766"/>
                </a:lnTo>
                <a:lnTo>
                  <a:pt x="2796082" y="6459639"/>
                </a:lnTo>
                <a:lnTo>
                  <a:pt x="2834373" y="6435903"/>
                </a:lnTo>
                <a:lnTo>
                  <a:pt x="2872232" y="6411544"/>
                </a:lnTo>
                <a:lnTo>
                  <a:pt x="2909671" y="6386601"/>
                </a:lnTo>
                <a:lnTo>
                  <a:pt x="2946666" y="6361049"/>
                </a:lnTo>
                <a:lnTo>
                  <a:pt x="2983230" y="6334925"/>
                </a:lnTo>
                <a:lnTo>
                  <a:pt x="3019336" y="6308217"/>
                </a:lnTo>
                <a:lnTo>
                  <a:pt x="3054985" y="6280937"/>
                </a:lnTo>
                <a:lnTo>
                  <a:pt x="3090164" y="6253086"/>
                </a:lnTo>
                <a:lnTo>
                  <a:pt x="3124885" y="6224676"/>
                </a:lnTo>
                <a:lnTo>
                  <a:pt x="3159125" y="6195720"/>
                </a:lnTo>
                <a:lnTo>
                  <a:pt x="3192881" y="6166205"/>
                </a:lnTo>
                <a:lnTo>
                  <a:pt x="3226143" y="6136170"/>
                </a:lnTo>
                <a:lnTo>
                  <a:pt x="3258909" y="6105588"/>
                </a:lnTo>
                <a:lnTo>
                  <a:pt x="3291179" y="6074486"/>
                </a:lnTo>
                <a:lnTo>
                  <a:pt x="3322929" y="6042863"/>
                </a:lnTo>
                <a:lnTo>
                  <a:pt x="3354171" y="6010732"/>
                </a:lnTo>
                <a:lnTo>
                  <a:pt x="3384880" y="5978106"/>
                </a:lnTo>
                <a:lnTo>
                  <a:pt x="3415055" y="5944971"/>
                </a:lnTo>
                <a:lnTo>
                  <a:pt x="3444710" y="5911342"/>
                </a:lnTo>
                <a:lnTo>
                  <a:pt x="3473805" y="5877242"/>
                </a:lnTo>
                <a:lnTo>
                  <a:pt x="3502355" y="5842660"/>
                </a:lnTo>
                <a:lnTo>
                  <a:pt x="3530333" y="5807595"/>
                </a:lnTo>
                <a:lnTo>
                  <a:pt x="3557765" y="5772086"/>
                </a:lnTo>
                <a:lnTo>
                  <a:pt x="3584613" y="5736107"/>
                </a:lnTo>
                <a:lnTo>
                  <a:pt x="3610889" y="5699684"/>
                </a:lnTo>
                <a:lnTo>
                  <a:pt x="3636581" y="5662815"/>
                </a:lnTo>
                <a:lnTo>
                  <a:pt x="3661676" y="5625516"/>
                </a:lnTo>
                <a:lnTo>
                  <a:pt x="3686175" y="5587784"/>
                </a:lnTo>
                <a:lnTo>
                  <a:pt x="3710076" y="5549620"/>
                </a:lnTo>
                <a:lnTo>
                  <a:pt x="3733355" y="5511050"/>
                </a:lnTo>
                <a:lnTo>
                  <a:pt x="3756012" y="5472074"/>
                </a:lnTo>
                <a:lnTo>
                  <a:pt x="3778059" y="5432691"/>
                </a:lnTo>
                <a:lnTo>
                  <a:pt x="3799459" y="5392915"/>
                </a:lnTo>
                <a:lnTo>
                  <a:pt x="3820223" y="5352758"/>
                </a:lnTo>
                <a:lnTo>
                  <a:pt x="3840340" y="5312207"/>
                </a:lnTo>
                <a:lnTo>
                  <a:pt x="3859809" y="5271287"/>
                </a:lnTo>
                <a:lnTo>
                  <a:pt x="3878618" y="5229999"/>
                </a:lnTo>
                <a:lnTo>
                  <a:pt x="3896766" y="5188356"/>
                </a:lnTo>
                <a:lnTo>
                  <a:pt x="3914229" y="5146357"/>
                </a:lnTo>
                <a:lnTo>
                  <a:pt x="3931018" y="5104003"/>
                </a:lnTo>
                <a:lnTo>
                  <a:pt x="3947122" y="5061318"/>
                </a:lnTo>
                <a:lnTo>
                  <a:pt x="3962527" y="5018290"/>
                </a:lnTo>
                <a:lnTo>
                  <a:pt x="3977246" y="4974945"/>
                </a:lnTo>
                <a:lnTo>
                  <a:pt x="3991241" y="4931270"/>
                </a:lnTo>
                <a:lnTo>
                  <a:pt x="4004538" y="4887290"/>
                </a:lnTo>
                <a:lnTo>
                  <a:pt x="4017099" y="4843005"/>
                </a:lnTo>
                <a:lnTo>
                  <a:pt x="4028948" y="4798415"/>
                </a:lnTo>
                <a:lnTo>
                  <a:pt x="4040060" y="4753534"/>
                </a:lnTo>
                <a:lnTo>
                  <a:pt x="4050423" y="4708372"/>
                </a:lnTo>
                <a:lnTo>
                  <a:pt x="4060037" y="4662932"/>
                </a:lnTo>
                <a:lnTo>
                  <a:pt x="4068915" y="4617212"/>
                </a:lnTo>
                <a:lnTo>
                  <a:pt x="4077017" y="4571225"/>
                </a:lnTo>
                <a:lnTo>
                  <a:pt x="4084358" y="4524984"/>
                </a:lnTo>
                <a:lnTo>
                  <a:pt x="4090924" y="4478502"/>
                </a:lnTo>
                <a:lnTo>
                  <a:pt x="4096702" y="4431766"/>
                </a:lnTo>
                <a:lnTo>
                  <a:pt x="4101693" y="4384789"/>
                </a:lnTo>
                <a:lnTo>
                  <a:pt x="4105897" y="4337583"/>
                </a:lnTo>
                <a:lnTo>
                  <a:pt x="4109301" y="4290161"/>
                </a:lnTo>
                <a:lnTo>
                  <a:pt x="4111891" y="4242511"/>
                </a:lnTo>
                <a:lnTo>
                  <a:pt x="4113669" y="4194657"/>
                </a:lnTo>
                <a:lnTo>
                  <a:pt x="4114622" y="4146600"/>
                </a:lnTo>
                <a:lnTo>
                  <a:pt x="4114749" y="4098340"/>
                </a:lnTo>
                <a:close/>
              </a:path>
              <a:path w="4114800" h="6858000">
                <a:moveTo>
                  <a:pt x="4114800" y="0"/>
                </a:moveTo>
                <a:lnTo>
                  <a:pt x="2743200" y="0"/>
                </a:lnTo>
                <a:lnTo>
                  <a:pt x="1371600" y="0"/>
                </a:lnTo>
                <a:lnTo>
                  <a:pt x="1371600" y="1371600"/>
                </a:lnTo>
                <a:lnTo>
                  <a:pt x="2743200" y="1371600"/>
                </a:lnTo>
                <a:lnTo>
                  <a:pt x="2743200" y="2743200"/>
                </a:lnTo>
                <a:lnTo>
                  <a:pt x="4114800" y="2743200"/>
                </a:lnTo>
                <a:lnTo>
                  <a:pt x="4114800" y="1371600"/>
                </a:lnTo>
                <a:lnTo>
                  <a:pt x="4114800" y="0"/>
                </a:lnTo>
                <a:close/>
              </a:path>
            </a:pathLst>
          </a:custGeom>
          <a:solidFill>
            <a:srgbClr val="565F6F"/>
          </a:solidFill>
        </p:spPr>
        <p:txBody>
          <a:bodyPr wrap="square" lIns="0" tIns="0" rIns="0" bIns="0" rtlCol="0"/>
          <a:lstStyle/>
          <a:p>
            <a:endParaRPr/>
          </a:p>
        </p:txBody>
      </p:sp>
      <p:sp>
        <p:nvSpPr>
          <p:cNvPr id="2" name="Holder 2"/>
          <p:cNvSpPr>
            <a:spLocks noGrp="1"/>
          </p:cNvSpPr>
          <p:nvPr>
            <p:ph type="ctrTitle"/>
          </p:nvPr>
        </p:nvSpPr>
        <p:spPr>
          <a:xfrm>
            <a:off x="383540" y="1599691"/>
            <a:ext cx="3837304" cy="756919"/>
          </a:xfrm>
          <a:prstGeom prst="rect">
            <a:avLst/>
          </a:prstGeom>
        </p:spPr>
        <p:txBody>
          <a:bodyPr wrap="square" lIns="0" tIns="0" rIns="0" bIns="0">
            <a:spAutoFit/>
          </a:bodyPr>
          <a:lstStyle>
            <a:lvl1pPr>
              <a:defRPr sz="2000" b="0" i="0">
                <a:solidFill>
                  <a:srgbClr val="565F6F"/>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084237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0" i="0">
                <a:solidFill>
                  <a:srgbClr val="2F3442"/>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676687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6960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407190" y="2443921"/>
            <a:ext cx="1009650" cy="254000"/>
          </a:xfrm>
          <a:prstGeom prst="rect">
            <a:avLst/>
          </a:prstGeom>
        </p:spPr>
      </p:pic>
      <p:pic>
        <p:nvPicPr>
          <p:cNvPr id="17" name="bg object 17"/>
          <p:cNvPicPr/>
          <p:nvPr/>
        </p:nvPicPr>
        <p:blipFill>
          <a:blip r:embed="rId3" cstate="print"/>
          <a:stretch>
            <a:fillRect/>
          </a:stretch>
        </p:blipFill>
        <p:spPr>
          <a:xfrm>
            <a:off x="9296400" y="2431221"/>
            <a:ext cx="831849" cy="254000"/>
          </a:xfrm>
          <a:prstGeom prst="rect">
            <a:avLst/>
          </a:prstGeom>
        </p:spPr>
      </p:pic>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7732458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0" i="0">
                <a:solidFill>
                  <a:srgbClr val="565F6F"/>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88664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E05189BA-01D0-0648-AF2A-6B4CD6B57EC9}" type="datetimeFigureOut">
              <a:rPr lang="en-US" smtClean="0"/>
              <a:t>2/4/2026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3E1F0FCF-E24C-CA41-A373-9E4EFBCD4E25}" type="slidenum">
              <a:rPr lang="en-US" smtClean="0"/>
              <a:t>‹#›</a:t>
            </a:fld>
            <a:endParaRPr lang="en-US"/>
          </a:p>
        </p:txBody>
      </p:sp>
    </p:spTree>
    <p:extLst>
      <p:ext uri="{BB962C8B-B14F-4D97-AF65-F5344CB8AC3E}">
        <p14:creationId xmlns:p14="http://schemas.microsoft.com/office/powerpoint/2010/main" val="713788537"/>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2" r:id="rId6"/>
    <p:sldLayoutId id="2147483659" r:id="rId7"/>
    <p:sldLayoutId id="2147483660" r:id="rId8"/>
    <p:sldLayoutId id="2147483658" r:id="rId9"/>
    <p:sldLayoutId id="2147483661" r:id="rId10"/>
    <p:sldLayoutId id="2147483662" r:id="rId11"/>
    <p:sldLayoutId id="2147483663" r:id="rId12"/>
    <p:sldLayoutId id="2147483664" r:id="rId13"/>
    <p:sldLayoutId id="2147483665" r:id="rId14"/>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a:solidFill>
                  <a:srgbClr val="000000"/>
                </a:solidFill>
              </a:rPr>
              <a:t>Introduction to Linear Regression</a:t>
            </a:r>
          </a:p>
        </p:txBody>
      </p:sp>
      <p:sp>
        <p:nvSpPr>
          <p:cNvPr id="3" name="Subtitle 2"/>
          <p:cNvSpPr>
            <a:spLocks noGrp="1"/>
          </p:cNvSpPr>
          <p:nvPr>
            <p:ph type="subTitle" idx="1"/>
          </p:nvPr>
        </p:nvSpPr>
        <p:spPr/>
        <p:txBody>
          <a:bodyPr/>
          <a:lstStyle/>
          <a:p>
            <a:r>
              <a:rPr>
                <a:solidFill>
                  <a:srgbClr val="000000"/>
                </a:solidFill>
              </a:rPr>
              <a:t>Exploring Chapter 2: Linear Regression Concepts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00000"/>
                </a:solidFill>
              </a:rPr>
              <a:t>What is Linear Regression?</a:t>
            </a:r>
          </a:p>
        </p:txBody>
      </p:sp>
      <p:sp>
        <p:nvSpPr>
          <p:cNvPr id="3" name="Content Placeholder 2"/>
          <p:cNvSpPr>
            <a:spLocks noGrp="1"/>
          </p:cNvSpPr>
          <p:nvPr>
            <p:ph sz="quarter" idx="11"/>
          </p:nvPr>
        </p:nvSpPr>
        <p:spPr/>
        <p:txBody>
          <a:bodyPr/>
          <a:lstStyle/>
          <a:p>
            <a:r>
              <a:rPr>
                <a:solidFill>
                  <a:srgbClr val="000000"/>
                </a:solidFill>
              </a:rPr>
              <a:t>Linear regression is a statistical method for modeling the relationship between a dependent variable and one or more independent variables. It is used to predict the value of the dependent variable based on the values of the independent variables.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00000"/>
                </a:solidFill>
              </a:rPr>
              <a:t>Simple vs. Multiple Linear Regression</a:t>
            </a:r>
          </a:p>
        </p:txBody>
      </p:sp>
      <p:sp>
        <p:nvSpPr>
          <p:cNvPr id="3" name="Content Placeholder 2"/>
          <p:cNvSpPr>
            <a:spLocks noGrp="1"/>
          </p:cNvSpPr>
          <p:nvPr>
            <p:ph sz="quarter" idx="12"/>
          </p:nvPr>
        </p:nvSpPr>
        <p:spPr/>
        <p:txBody>
          <a:bodyPr/>
          <a:lstStyle/>
          <a:p>
            <a:r>
              <a:rPr>
                <a:solidFill>
                  <a:srgbClr val="000000"/>
                </a:solidFill>
              </a:rPr>
              <a:t>Simple linear regression involves one independent variable, whereas multiple linear regression involves two or more independent variables. Both models aim to find the line of best fit that minimizes the error between the predicted and actual values.</a:t>
            </a:r>
          </a:p>
        </p:txBody>
      </p:sp>
      <p:pic>
        <p:nvPicPr>
          <p:cNvPr id="4" name="Picture 3" descr="formula_2.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00000"/>
                </a:solidFill>
              </a:rPr>
              <a:t>Quadratic Regression</a:t>
            </a:r>
          </a:p>
        </p:txBody>
      </p:sp>
      <p:sp>
        <p:nvSpPr>
          <p:cNvPr id="3" name="Content Placeholder 2"/>
          <p:cNvSpPr>
            <a:spLocks noGrp="1"/>
          </p:cNvSpPr>
          <p:nvPr>
            <p:ph sz="quarter" idx="12"/>
          </p:nvPr>
        </p:nvSpPr>
        <p:spPr/>
        <p:txBody>
          <a:bodyPr/>
          <a:lstStyle/>
          <a:p>
            <a:r>
              <a:rPr>
                <a:solidFill>
                  <a:srgbClr val="000000"/>
                </a:solidFill>
              </a:rPr>
              <a:t>Quadratic regression is a type of polynomial regression where the relationship between the independent variable and the dependent variable is modeled as an nth degree polynomial. It provides a better fit for certain datasets compared to linear models.</a:t>
            </a:r>
          </a:p>
        </p:txBody>
      </p:sp>
      <p:pic>
        <p:nvPicPr>
          <p:cNvPr id="4" name="Picture 3" descr="chart_3.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00000"/>
                </a:solidFill>
              </a:rPr>
              <a:t>Understanding R-squared</a:t>
            </a:r>
          </a:p>
        </p:txBody>
      </p:sp>
      <p:sp>
        <p:nvSpPr>
          <p:cNvPr id="3" name="Content Placeholder 2"/>
          <p:cNvSpPr>
            <a:spLocks noGrp="1"/>
          </p:cNvSpPr>
          <p:nvPr>
            <p:ph sz="quarter" idx="11"/>
          </p:nvPr>
        </p:nvSpPr>
        <p:spPr/>
        <p:txBody>
          <a:bodyPr/>
          <a:lstStyle/>
          <a:p>
            <a:r>
              <a:rPr>
                <a:solidFill>
                  <a:srgbClr val="000000"/>
                </a:solidFill>
              </a:rPr>
              <a:t>R-squared is a statistical measure that represents the proportion of the variance for the dependent variable that's explained by the independent variables. A higher R-squared value indicates a better fit for the model.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00000"/>
                </a:solidFill>
              </a:rPr>
              <a:t>Code Example: Implementing Linear Regression</a:t>
            </a:r>
          </a:p>
        </p:txBody>
      </p:sp>
      <p:sp>
        <p:nvSpPr>
          <p:cNvPr id="3" name="Content Placeholder 2"/>
          <p:cNvSpPr>
            <a:spLocks noGrp="1"/>
          </p:cNvSpPr>
          <p:nvPr>
            <p:ph sz="quarter" idx="12"/>
          </p:nvPr>
        </p:nvSpPr>
        <p:spPr/>
        <p:txBody>
          <a:bodyPr/>
          <a:lstStyle/>
          <a:p>
            <a:r>
              <a:rPr>
                <a:solidFill>
                  <a:srgbClr val="000000"/>
                </a:solidFill>
              </a:rPr>
              <a:t>Here's a simple Python code snippet to implement a linear regression model using Scikit-Learn. This helps in understanding how linear regression models are built and trained.</a:t>
            </a:r>
          </a:p>
        </p:txBody>
      </p:sp>
      <p:pic>
        <p:nvPicPr>
          <p:cNvPr id="4" name="Picture 3" descr="code_5.png"/>
          <p:cNvPicPr>
            <a:picLocks noChangeAspect="1"/>
          </p:cNvPicPr>
          <p:nvPr/>
        </p:nvPicPr>
        <p:blipFill>
          <a:blip r:embed="rId2"/>
          <a:stretch>
            <a:fillRect/>
          </a:stretch>
        </p:blipFill>
        <p:spPr>
          <a:xfrm>
            <a:off x="6289002" y="1632944"/>
            <a:ext cx="5076253" cy="3886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solidFill>
                  <a:srgbClr val="000000"/>
                </a:solidFill>
              </a:rPr>
              <a:t>Conclusion</a:t>
            </a:r>
          </a:p>
        </p:txBody>
      </p:sp>
      <p:sp>
        <p:nvSpPr>
          <p:cNvPr id="3" name="Content Placeholder 2"/>
          <p:cNvSpPr>
            <a:spLocks noGrp="1"/>
          </p:cNvSpPr>
          <p:nvPr>
            <p:ph sz="quarter" idx="11"/>
          </p:nvPr>
        </p:nvSpPr>
        <p:spPr/>
        <p:txBody>
          <a:bodyPr/>
          <a:lstStyle/>
          <a:p>
            <a:r>
              <a:rPr>
                <a:solidFill>
                  <a:srgbClr val="000000"/>
                </a:solidFill>
              </a:rPr>
              <a:t>Linear regression is a foundational tool in statistical modeling and machine learning. Understanding its concepts and applications is crucial for analyzing relationships in data and making predictions.</a:t>
            </a:r>
          </a:p>
        </p:txBody>
      </p:sp>
    </p:spTree>
  </p:cSld>
  <p:clrMapOvr>
    <a:masterClrMapping/>
  </p:clrMapOvr>
</p:sld>
</file>

<file path=ppt/theme/theme1.xml><?xml version="1.0" encoding="utf-8"?>
<a:theme xmlns:a="http://schemas.openxmlformats.org/drawingml/2006/main" name="Office Theme">
  <a:themeElements>
    <a:clrScheme name="Durham University">
      <a:dk1>
        <a:srgbClr val="002A41"/>
      </a:dk1>
      <a:lt1>
        <a:sysClr val="window" lastClr="FFFFFF"/>
      </a:lt1>
      <a:dk2>
        <a:srgbClr val="54145A"/>
      </a:dk2>
      <a:lt2>
        <a:srgbClr val="CBA8B1"/>
      </a:lt2>
      <a:accent1>
        <a:srgbClr val="00AEEF"/>
      </a:accent1>
      <a:accent2>
        <a:srgbClr val="A5C8D0"/>
      </a:accent2>
      <a:accent3>
        <a:srgbClr val="AFA961"/>
      </a:accent3>
      <a:accent4>
        <a:srgbClr val="B3BDB1"/>
      </a:accent4>
      <a:accent5>
        <a:srgbClr val="FFD53A"/>
      </a:accent5>
      <a:accent6>
        <a:srgbClr val="DACDA2"/>
      </a:accent6>
      <a:hlink>
        <a:srgbClr val="BE1E2D"/>
      </a:hlink>
      <a:folHlink>
        <a:srgbClr val="B6AAA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urham University_powerpoint 29.08.19 FINAL.potx" id="{15F0B36B-451E-467F-AC1D-6B634029385F}" vid="{75B5DF01-1AD8-4B24-959A-92377C0E24A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67F80A658ED444C8098A6C8835B3712" ma:contentTypeVersion="16" ma:contentTypeDescription="Create a new document." ma:contentTypeScope="" ma:versionID="5d2edc2167da6d1bb792dea4684e7ecf">
  <xsd:schema xmlns:xsd="http://www.w3.org/2001/XMLSchema" xmlns:xs="http://www.w3.org/2001/XMLSchema" xmlns:p="http://schemas.microsoft.com/office/2006/metadata/properties" xmlns:ns2="6e6f4c5e-d68b-487b-9c02-caf7e61d6b66" xmlns:ns3="a0bf372a-9d90-4a81-85ce-8e7bbe717490" xmlns:ns4="3bf6d2de-cfb7-466c-825b-051a8e3c8b7d" targetNamespace="http://schemas.microsoft.com/office/2006/metadata/properties" ma:root="true" ma:fieldsID="b1a976468ab75df09cdefb8882f83837" ns2:_="" ns3:_="" ns4:_="">
    <xsd:import namespace="6e6f4c5e-d68b-487b-9c02-caf7e61d6b66"/>
    <xsd:import namespace="a0bf372a-9d90-4a81-85ce-8e7bbe717490"/>
    <xsd:import namespace="3bf6d2de-cfb7-466c-825b-051a8e3c8b7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Location" minOccurs="0"/>
                <xsd:element ref="ns2:lcf76f155ced4ddcb4097134ff3c332f" minOccurs="0"/>
                <xsd:element ref="ns4:TaxCatchAll"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6f4c5e-d68b-487b-9c02-caf7e61d6b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d651d785-cc9b-461e-a4c9-c589c330ffeb"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0bf372a-9d90-4a81-85ce-8e7bbe717490"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bf6d2de-cfb7-466c-825b-051a8e3c8b7d"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cf60340b-b3ab-4429-ad0e-954f6226807c}" ma:internalName="TaxCatchAll" ma:showField="CatchAllData" ma:web="a0bf372a-9d90-4a81-85ce-8e7bbe717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e6f4c5e-d68b-487b-9c02-caf7e61d6b66">
      <Terms xmlns="http://schemas.microsoft.com/office/infopath/2007/PartnerControls"/>
    </lcf76f155ced4ddcb4097134ff3c332f>
    <TaxCatchAll xmlns="3bf6d2de-cfb7-466c-825b-051a8e3c8b7d" xsi:nil="true"/>
    <SharedWithUsers xmlns="a0bf372a-9d90-4a81-85ce-8e7bbe717490">
      <UserInfo>
        <DisplayName>PRZYBORSKI, STEFAN A.</DisplayName>
        <AccountId>131</AccountId>
        <AccountType/>
      </UserInfo>
      <UserInfo>
        <DisplayName>ROBINSON, MATTHEW</DisplayName>
        <AccountId>50</AccountId>
        <AccountType/>
      </UserInfo>
      <UserInfo>
        <DisplayName>WEBSTER, PAULA</DisplayName>
        <AccountId>65</AccountId>
        <AccountType/>
      </UserInfo>
      <UserInfo>
        <DisplayName>MCDONALD, CLAIRE</DisplayName>
        <AccountId>16</AccountId>
        <AccountType/>
      </UserInfo>
    </SharedWithUsers>
  </documentManagement>
</p:properties>
</file>

<file path=customXml/itemProps1.xml><?xml version="1.0" encoding="utf-8"?>
<ds:datastoreItem xmlns:ds="http://schemas.openxmlformats.org/officeDocument/2006/customXml" ds:itemID="{E4D16294-DC56-4215-A5F8-1F17988B5EFC}">
  <ds:schemaRefs>
    <ds:schemaRef ds:uri="3bf6d2de-cfb7-466c-825b-051a8e3c8b7d"/>
    <ds:schemaRef ds:uri="6e6f4c5e-d68b-487b-9c02-caf7e61d6b66"/>
    <ds:schemaRef ds:uri="a0bf372a-9d90-4a81-85ce-8e7bbe71749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DE96671-C665-44F0-AC6D-2E9A17D50BEA}">
  <ds:schemaRefs>
    <ds:schemaRef ds:uri="http://schemas.microsoft.com/sharepoint/v3/contenttype/forms"/>
  </ds:schemaRefs>
</ds:datastoreItem>
</file>

<file path=customXml/itemProps3.xml><?xml version="1.0" encoding="utf-8"?>
<ds:datastoreItem xmlns:ds="http://schemas.openxmlformats.org/officeDocument/2006/customXml" ds:itemID="{3824A268-B20B-44AC-8616-436FFCA704C5}">
  <ds:schemaRefs>
    <ds:schemaRef ds:uri="3bf6d2de-cfb7-466c-825b-051a8e3c8b7d"/>
    <ds:schemaRef ds:uri="6e6f4c5e-d68b-487b-9c02-caf7e61d6b66"/>
    <ds:schemaRef ds:uri="http://schemas.microsoft.com/office/2006/metadata/properties"/>
    <ds:schemaRef ds:uri="http://schemas.microsoft.com/office/infopath/2007/PartnerControls"/>
    <ds:schemaRef ds:uri="a0bf372a-9d90-4a81-85ce-8e7bbe717490"/>
  </ds:schemaRefs>
</ds:datastoreItem>
</file>

<file path=docProps/app.xml><?xml version="1.0" encoding="utf-8"?>
<Properties xmlns="http://schemas.openxmlformats.org/officeDocument/2006/extended-properties" xmlns:vt="http://schemas.openxmlformats.org/officeDocument/2006/docPropsVTypes">
  <Template>office theme</Template>
  <TotalTime>776</TotalTime>
  <Words>246</Words>
  <Application>Microsoft Office PowerPoint</Application>
  <PresentationFormat>Widescreen</PresentationFormat>
  <Paragraphs>14</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Lucida Grande</vt:lpstr>
      <vt:lpstr>Arial</vt:lpstr>
      <vt:lpstr>Calibri</vt:lpstr>
      <vt:lpstr>Office Theme</vt:lpstr>
      <vt:lpstr>Introduction to Linear Regression</vt:lpstr>
      <vt:lpstr>What is Linear Regression?</vt:lpstr>
      <vt:lpstr>Simple vs. Multiple Linear Regression</vt:lpstr>
      <vt:lpstr>Quadratic Regression</vt:lpstr>
      <vt:lpstr>Understanding R-squared</vt:lpstr>
      <vt:lpstr>Code Example: Implementing Linear Regression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MCDONALD, CLAIRE</dc:creator>
  <cp:lastModifiedBy>PANG, CARLOS S. (Student)</cp:lastModifiedBy>
  <cp:revision>126</cp:revision>
  <dcterms:created xsi:type="dcterms:W3CDTF">2022-08-10T15:52:35Z</dcterms:created>
  <dcterms:modified xsi:type="dcterms:W3CDTF">2026-02-04T12:45:13Z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0x010100767F80A658ED444C8098A6C8835B3712</vt:lpwstr>
  </property>
  <property fmtid="{D5CDD505-2E9C-101B-9397-08002B2CF9AE}" pid="3" name="MediaServiceImageTags">
    <vt:lpwstr/>
  </property>
</Properties>
</file>
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 id="263"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 Id="rId1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Introduction to Generative Adversarial Networks (GANs)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Are GANs?</a:t>
            </a:r>
          </a:p>
        </p:txBody>
      </p:sp>
      <p:sp>
        <p:nvSpPr>
          <p:cNvPr id="3" name="Content Placeholder 2"/>
          <p:cNvSpPr>
            <a:spLocks noGrp="1"/>
          </p:cNvSpPr>
          <p:nvPr>
            <p:ph idx="11" sz="quarter"/>
          </p:nvPr>
        </p:nvSpPr>
        <p:spPr/>
        <p:txBody>
          <a:bodyPr/>
          <a:lstStyle/>
          <a:p>
            <a:pPr>
              <a:defRPr>
                <a:solidFill>
                  <a:srgbClr val="000000"/>
                </a:solidFill>
              </a:defRPr>
            </a:pPr>
            <a:r>
              <a:t>Generative Adversarial Networks (GANs) are a class of machine learning frameworks designed by Ian Goodfellow and his colleagues in 2014. GANs aim to generate new data with the same statistics as the training dataset. Unlike traditional neural networks, GANs consist of two neural networks contesting with each other in a zero-sum game.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GANs Work</a:t>
            </a:r>
          </a:p>
        </p:txBody>
      </p:sp>
      <p:sp>
        <p:nvSpPr>
          <p:cNvPr id="3" name="Content Placeholder 2"/>
          <p:cNvSpPr>
            <a:spLocks noGrp="1"/>
          </p:cNvSpPr>
          <p:nvPr>
            <p:ph idx="12" sz="quarter"/>
          </p:nvPr>
        </p:nvSpPr>
        <p:spPr/>
        <p:txBody>
          <a:bodyPr/>
          <a:lstStyle/>
          <a:p>
            <a:pPr>
              <a:defRPr>
                <a:solidFill>
                  <a:srgbClr val="000000"/>
                </a:solidFill>
              </a:defRPr>
            </a:pPr>
            <a:r>
              <a:t>GANs operate through two main components: a Generator and a Discriminator.</a:t>
            </a:r>
          </a:p>
          <a:p>
            <a:pPr>
              <a:defRPr>
                <a:solidFill>
                  <a:srgbClr val="000000"/>
                </a:solidFill>
              </a:defRPr>
            </a:pPr>
            <a:r>
              <a:t>- **Generator**: Creates fake data from random noise.</a:t>
            </a:r>
          </a:p>
          <a:p>
            <a:pPr>
              <a:defRPr>
                <a:solidFill>
                  <a:srgbClr val="000000"/>
                </a:solidFill>
              </a:defRPr>
            </a:pPr>
            <a:r>
              <a:t>- **Discriminator**: Evaluates data and distorts between real and fake.</a:t>
            </a:r>
          </a:p>
        </p:txBody>
      </p:sp>
      <p:sp>
        <p:nvSpPr>
          <p:cNvPr id="4" name="Content Placeholder 3"/>
          <p:cNvSpPr>
            <a:spLocks noGrp="1"/>
          </p:cNvSpPr>
          <p:nvPr>
            <p:ph idx="13" sz="quarter"/>
          </p:nvPr>
        </p:nvSpPr>
        <p:spPr/>
        <p:txBody>
          <a:bodyPr/>
          <a:lstStyle/>
          <a:p/>
        </p:txBody>
      </p:sp>
      <p:pic>
        <p:nvPicPr>
          <p:cNvPr id="5" name="Picture 4" descr="generated_code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Process</a:t>
            </a:r>
          </a:p>
        </p:txBody>
      </p:sp>
      <p:sp>
        <p:nvSpPr>
          <p:cNvPr id="3" name="Content Placeholder 2"/>
          <p:cNvSpPr>
            <a:spLocks noGrp="1"/>
          </p:cNvSpPr>
          <p:nvPr>
            <p:ph idx="12" sz="quarter"/>
          </p:nvPr>
        </p:nvSpPr>
        <p:spPr/>
        <p:txBody>
          <a:bodyPr/>
          <a:lstStyle/>
          <a:p>
            <a:pPr>
              <a:defRPr>
                <a:solidFill>
                  <a:srgbClr val="000000"/>
                </a:solidFill>
              </a:defRPr>
            </a:pPr>
            <a:r>
              <a:t>Training alternates between:</a:t>
            </a:r>
          </a:p>
          <a:p>
            <a:pPr>
              <a:defRPr>
                <a:solidFill>
                  <a:srgbClr val="000000"/>
                </a:solidFill>
              </a:defRPr>
            </a:pPr>
            <a:r>
              <a:t>- Training the Discriminator to appraise the real against fake data.</a:t>
            </a:r>
          </a:p>
          <a:p>
            <a:pPr>
              <a:defRPr>
                <a:solidFill>
                  <a:srgbClr val="000000"/>
                </a:solidFill>
              </a:defRPr>
            </a:pPr>
            <a:r>
              <a:t>- Training the Generator to produce more realistic fake data.</a:t>
            </a:r>
          </a:p>
          <a:p>
            <a:pPr>
              <a:defRPr>
                <a:solidFill>
                  <a:srgbClr val="000000"/>
                </a:solidFill>
              </a:defRPr>
            </a:pPr>
            <a:r>
              <a:t>This cyclical process leads to progressively more lifelike outcomes.</a:t>
            </a:r>
          </a:p>
        </p:txBody>
      </p:sp>
      <p:sp>
        <p:nvSpPr>
          <p:cNvPr id="4" name="Content Placeholder 3"/>
          <p:cNvSpPr>
            <a:spLocks noGrp="1"/>
          </p:cNvSpPr>
          <p:nvPr>
            <p:ph idx="13" sz="quarter"/>
          </p:nvPr>
        </p:nvSpPr>
        <p:spPr/>
        <p:txBody>
          <a:bodyPr/>
          <a:lstStyle/>
          <a:p/>
        </p:txBody>
      </p:sp>
      <p:pic>
        <p:nvPicPr>
          <p:cNvPr id="5" name="Picture 4" descr="generated_code_3.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Are GANs Powerful?</a:t>
            </a:r>
          </a:p>
        </p:txBody>
      </p:sp>
      <p:sp>
        <p:nvSpPr>
          <p:cNvPr id="3" name="Content Placeholder 2"/>
          <p:cNvSpPr>
            <a:spLocks noGrp="1"/>
          </p:cNvSpPr>
          <p:nvPr>
            <p:ph idx="12" sz="quarter"/>
          </p:nvPr>
        </p:nvSpPr>
        <p:spPr/>
        <p:txBody>
          <a:bodyPr/>
          <a:lstStyle/>
          <a:p>
            <a:pPr>
              <a:defRPr>
                <a:solidFill>
                  <a:srgbClr val="000000"/>
                </a:solidFill>
              </a:defRPr>
            </a:pPr>
            <a:r>
              <a:t>Potential Applications:</a:t>
            </a:r>
          </a:p>
          <a:p>
            <a:pPr>
              <a:defRPr>
                <a:solidFill>
                  <a:srgbClr val="000000"/>
                </a:solidFill>
              </a:defRPr>
            </a:pPr>
            <a:r>
              <a:t>- Image generation</a:t>
            </a:r>
          </a:p>
          <a:p>
            <a:pPr>
              <a:defRPr>
                <a:solidFill>
                  <a:srgbClr val="000000"/>
                </a:solidFill>
              </a:defRPr>
            </a:pPr>
            <a:r>
              <a:t>- Video synthesis</a:t>
            </a:r>
          </a:p>
          <a:p>
            <a:pPr>
              <a:defRPr>
                <a:solidFill>
                  <a:srgbClr val="000000"/>
                </a:solidFill>
              </a:defRPr>
            </a:pPr>
            <a:r>
              <a:t>- Data augmentation</a:t>
            </a:r>
          </a:p>
          <a:p>
            <a:pPr>
              <a:defRPr>
                <a:solidFill>
                  <a:srgbClr val="000000"/>
                </a:solidFill>
              </a:defRPr>
            </a:pPr>
            <a:r>
              <a:t>GANs are versatile, able to produce data that mimics real-world distribution closely.</a:t>
            </a:r>
          </a:p>
        </p:txBody>
      </p:sp>
      <p:sp>
        <p:nvSpPr>
          <p:cNvPr id="4" name="Content Placeholder 3"/>
          <p:cNvSpPr>
            <a:spLocks noGrp="1"/>
          </p:cNvSpPr>
          <p:nvPr>
            <p:ph idx="13"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Ethical Considerations</a:t>
            </a:r>
          </a:p>
        </p:txBody>
      </p:sp>
      <p:sp>
        <p:nvSpPr>
          <p:cNvPr id="3" name="Content Placeholder 2"/>
          <p:cNvSpPr>
            <a:spLocks noGrp="1"/>
          </p:cNvSpPr>
          <p:nvPr>
            <p:ph idx="11" sz="quarter"/>
          </p:nvPr>
        </p:nvSpPr>
        <p:spPr/>
        <p:txBody>
          <a:bodyPr/>
          <a:lstStyle/>
          <a:p>
            <a:pPr>
              <a:defRPr>
                <a:solidFill>
                  <a:srgbClr val="000000"/>
                </a:solidFill>
              </a:defRPr>
            </a:pPr>
            <a:r>
              <a:t>While GANs hold vast potential, they also pose ethical challenges such as:</a:t>
            </a:r>
          </a:p>
          <a:p>
            <a:pPr>
              <a:defRPr>
                <a:solidFill>
                  <a:srgbClr val="000000"/>
                </a:solidFill>
              </a:defRPr>
            </a:pPr>
            <a:r>
              <a:t>- Creating deepfakes</a:t>
            </a:r>
          </a:p>
          <a:p>
            <a:pPr>
              <a:defRPr>
                <a:solidFill>
                  <a:srgbClr val="000000"/>
                </a:solidFill>
              </a:defRPr>
            </a:pPr>
            <a:r>
              <a:t>- Implications on privacy</a:t>
            </a:r>
          </a:p>
          <a:p>
            <a:pPr>
              <a:defRPr>
                <a:solidFill>
                  <a:srgbClr val="000000"/>
                </a:solidFill>
              </a:defRPr>
            </a:pPr>
            <a:r>
              <a:t>- Trust in digital content</a:t>
            </a:r>
          </a:p>
          <a:p>
            <a:pPr>
              <a:defRPr>
                <a:solidFill>
                  <a:srgbClr val="000000"/>
                </a:solidFill>
              </a:defRPr>
            </a:pPr>
            <a:r>
              <a:t>It's crucial to balance innovation with ethical responsibility.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in GANs</a:t>
            </a:r>
          </a:p>
        </p:txBody>
      </p:sp>
      <p:sp>
        <p:nvSpPr>
          <p:cNvPr id="3" name="Content Placeholder 2"/>
          <p:cNvSpPr>
            <a:spLocks noGrp="1"/>
          </p:cNvSpPr>
          <p:nvPr>
            <p:ph idx="11" sz="quarter"/>
          </p:nvPr>
        </p:nvSpPr>
        <p:spPr/>
        <p:txBody>
          <a:bodyPr/>
          <a:lstStyle/>
          <a:p>
            <a:pPr>
              <a:defRPr>
                <a:solidFill>
                  <a:srgbClr val="000000"/>
                </a:solidFill>
              </a:defRPr>
            </a:pPr>
            <a:r>
              <a:t>Common challenges include:</a:t>
            </a:r>
          </a:p>
          <a:p>
            <a:pPr>
              <a:defRPr>
                <a:solidFill>
                  <a:srgbClr val="000000"/>
                </a:solidFill>
              </a:defRPr>
            </a:pPr>
            <a:r>
              <a:t>- Mode collapse: Generator produces limited varieties of samples.</a:t>
            </a:r>
          </a:p>
          <a:p>
            <a:pPr>
              <a:defRPr>
                <a:solidFill>
                  <a:srgbClr val="000000"/>
                </a:solidFill>
              </a:defRPr>
            </a:pPr>
            <a:r>
              <a:t>- Training instability: Competition between Generator and Discriminator can lead to convergence issues.</a:t>
            </a:r>
          </a:p>
          <a:p>
            <a:pPr>
              <a:defRPr>
                <a:solidFill>
                  <a:srgbClr val="000000"/>
                </a:solidFill>
              </a:defRPr>
            </a:pPr>
            <a:r>
              <a:t>Understanding and overcoming these challenges is key to effectively utilizing GANs.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2" sz="quarter"/>
          </p:nvPr>
        </p:nvSpPr>
        <p:spPr/>
        <p:txBody>
          <a:bodyPr/>
          <a:lstStyle/>
          <a:p>
            <a:pPr>
              <a:defRPr>
                <a:solidFill>
                  <a:srgbClr val="000000"/>
                </a:solidFill>
              </a:defRPr>
            </a:pPr>
            <a:r>
              <a:t>GANs have revolutionized the field of AI with their ability to generate high-quality artificial data. Their developer community is active, constantly enhancing techniques and resolving challenges.</a:t>
            </a:r>
          </a:p>
          <a:p>
            <a:pPr>
              <a:defRPr>
                <a:solidFill>
                  <a:srgbClr val="000000"/>
                </a:solidFill>
              </a:defRPr>
            </a:pPr>
            <a:r>
              <a:t>As quoted by Ian Goodfellow, 'If you're looking for a machine learning problem that you can spend your life working on, GANs have the deepest rabbit hole.'</a:t>
            </a:r>
          </a:p>
        </p:txBody>
      </p:sp>
      <p:sp>
        <p:nvSpPr>
          <p:cNvPr id="4" name="Content Placeholder 3"/>
          <p:cNvSpPr>
            <a:spLocks noGrp="1"/>
          </p:cNvSpPr>
          <p:nvPr>
            <p:ph idx="13" sz="quarter"/>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
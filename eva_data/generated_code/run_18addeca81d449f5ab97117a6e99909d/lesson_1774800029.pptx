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media/image7.jpg" ContentType="image/jpg"/>
  <Override PartName="/ppt/media/image8.jpg" ContentType="image/jpg"/>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10"/>
    <p:sldId id="257" r:id="rId9"/>
    <p:sldId id="258" r:id="rId8"/>
    <p:sldId id="259" r:id="rId7"/>
    <p:sldId id="260" r:id="rId6"/>
    <p:sldId id="261" r:id="rId5"/>
    <p:sldId id="262" r:id="rId16"/>
    <p:sldId id="263" r:id="rId17"/>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784"/>
    <p:restoredTop sz="94726"/>
  </p:normalViewPr>
  <p:slideViewPr>
    <p:cSldViewPr snapToGrid="0">
      <p:cViewPr varScale="1">
        <p:scale>
          <a:sx n="78" d="100"/>
          <a:sy n="78" d="100"/>
        </p:scale>
        <p:origin x="107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6.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3.xml"/><Relationship Id="rId9" Type="http://schemas.openxmlformats.org/officeDocument/2006/relationships/slide" Target="slides/slide2.xml"/><Relationship Id="rId10" Type="http://schemas.openxmlformats.org/officeDocument/2006/relationships/slide" Target="slides/slide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6/11/relationships/changesInfo" Target="changesInfos/changesInfo1.xml"/><Relationship Id="rId16" Type="http://schemas.openxmlformats.org/officeDocument/2006/relationships/slide" Target="slides/slide7.xml"/><Relationship Id="rId17"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W, EFFIE L." userId="1c3177ca-747b-4691-ad45-4cbdbc050fd1" providerId="ADAL" clId="{06734445-D490-4A90-AC2A-6257025627FB}"/>
    <pc:docChg chg="modSld">
      <pc:chgData name="LAW, EFFIE L." userId="1c3177ca-747b-4691-ad45-4cbdbc050fd1" providerId="ADAL" clId="{06734445-D490-4A90-AC2A-6257025627FB}" dt="2025-10-03T09:12:37.245" v="30" actId="20577"/>
      <pc:docMkLst>
        <pc:docMk/>
      </pc:docMkLst>
      <pc:sldChg chg="modSp mod">
        <pc:chgData name="LAW, EFFIE L." userId="1c3177ca-747b-4691-ad45-4cbdbc050fd1" providerId="ADAL" clId="{06734445-D490-4A90-AC2A-6257025627FB}" dt="2025-10-03T09:12:37.245" v="30" actId="20577"/>
        <pc:sldMkLst>
          <pc:docMk/>
          <pc:sldMk cId="775193986" sldId="258"/>
        </pc:sldMkLst>
        <pc:spChg chg="mod">
          <ac:chgData name="LAW, EFFIE L." userId="1c3177ca-747b-4691-ad45-4cbdbc050fd1" providerId="ADAL" clId="{06734445-D490-4A90-AC2A-6257025627FB}" dt="2025-10-03T09:12:37.245" v="30" actId="20577"/>
          <ac:spMkLst>
            <pc:docMk/>
            <pc:sldMk cId="775193986" sldId="258"/>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 Id="rId3"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 Id="rId3"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 Id="rId3"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emf"/><Relationship Id="rId3"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urham Title Slide - Purple">
    <p:bg>
      <p:bgPr>
        <a:solidFill>
          <a:schemeClr val="bg2"/>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2" name="Picture 11"/>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3032838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Durham Title Slide – Blue">
    <p:bg>
      <p:bgPr>
        <a:solidFill>
          <a:schemeClr val="accent2"/>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8" name="Picture 17"/>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602078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Durham Title Slide – Gold">
    <p:bg>
      <p:bgPr>
        <a:solidFill>
          <a:srgbClr val="B3BDB1"/>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7" name="Picture 16"/>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2568941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Durham Title Slide - Yellow">
    <p:bg>
      <p:bgPr>
        <a:solidFill>
          <a:schemeClr val="accent6"/>
        </a:soli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6" name="Picture 15"/>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1488312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Durham Title Slide – Red">
    <p:bg>
      <p:bgPr>
        <a:solidFill>
          <a:srgbClr val="B6AAA7"/>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chemeClr val="tx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4" name="Picture 13"/>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2247780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urham Text Slide - 1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rgbClr val="54145A"/>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4" name="Content Placeholder 3"/>
          <p:cNvSpPr>
            <a:spLocks noGrp="1"/>
          </p:cNvSpPr>
          <p:nvPr>
            <p:ph sz="quarter" idx="11"/>
          </p:nvPr>
        </p:nvSpPr>
        <p:spPr>
          <a:xfrm>
            <a:off x="828737" y="1632944"/>
            <a:ext cx="7603571"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449196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urham Text Slide - 2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rgbClr val="54145A"/>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10" name="Content Placeholder 3"/>
          <p:cNvSpPr>
            <a:spLocks noGrp="1"/>
          </p:cNvSpPr>
          <p:nvPr>
            <p:ph sz="quarter" idx="12"/>
          </p:nvPr>
        </p:nvSpPr>
        <p:spPr>
          <a:xfrm>
            <a:off x="828738" y="1632944"/>
            <a:ext cx="5076253"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2" name="Content Placeholder 3"/>
          <p:cNvSpPr>
            <a:spLocks noGrp="1"/>
          </p:cNvSpPr>
          <p:nvPr>
            <p:ph sz="quarter" idx="13"/>
          </p:nvPr>
        </p:nvSpPr>
        <p:spPr>
          <a:xfrm>
            <a:off x="6289002" y="1632944"/>
            <a:ext cx="5076253"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70916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urham Text Slide - 3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chemeClr val="tx2"/>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12" name="Content Placeholder 3"/>
          <p:cNvSpPr>
            <a:spLocks noGrp="1"/>
          </p:cNvSpPr>
          <p:nvPr>
            <p:ph sz="quarter" idx="13"/>
          </p:nvPr>
        </p:nvSpPr>
        <p:spPr>
          <a:xfrm>
            <a:off x="828738"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4" name="Content Placeholder 3"/>
          <p:cNvSpPr>
            <a:spLocks noGrp="1"/>
          </p:cNvSpPr>
          <p:nvPr>
            <p:ph sz="quarter" idx="14"/>
          </p:nvPr>
        </p:nvSpPr>
        <p:spPr>
          <a:xfrm>
            <a:off x="4473629"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5" name="Content Placeholder 3"/>
          <p:cNvSpPr>
            <a:spLocks noGrp="1"/>
          </p:cNvSpPr>
          <p:nvPr>
            <p:ph sz="quarter" idx="15"/>
          </p:nvPr>
        </p:nvSpPr>
        <p:spPr>
          <a:xfrm>
            <a:off x="8118518"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4770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urham Breaker Slide">
    <p:bg>
      <p:bgPr>
        <a:solidFill>
          <a:srgbClr val="A5C8D0"/>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6" name="Content Placeholder 3"/>
          <p:cNvSpPr>
            <a:spLocks noGrp="1"/>
          </p:cNvSpPr>
          <p:nvPr>
            <p:ph sz="quarter" idx="11"/>
          </p:nvPr>
        </p:nvSpPr>
        <p:spPr>
          <a:xfrm>
            <a:off x="2844658" y="1632944"/>
            <a:ext cx="6891867" cy="3886200"/>
          </a:xfrm>
        </p:spPr>
        <p:txBody>
          <a:bodyPr lIns="0" tIns="0" rIns="0" bIns="0">
            <a:noAutofit/>
          </a:bodyPr>
          <a:lstStyle>
            <a:lvl1pPr marL="0" indent="0">
              <a:spcBef>
                <a:spcPts val="1333"/>
              </a:spcBef>
              <a:buNone/>
              <a:defRPr sz="3200">
                <a:solidFill>
                  <a:srgbClr val="54145A"/>
                </a:solidFill>
                <a:latin typeface="Arial"/>
                <a:cs typeface="Arial"/>
              </a:defRPr>
            </a:lvl1pPr>
            <a:lvl2pPr marL="383990" indent="-383990">
              <a:spcBef>
                <a:spcPts val="1333"/>
              </a:spcBef>
              <a:buClr>
                <a:srgbClr val="68246D"/>
              </a:buClr>
              <a:buFont typeface="Arial"/>
              <a:buChar char="•"/>
              <a:defRPr sz="3200">
                <a:solidFill>
                  <a:srgbClr val="54145A"/>
                </a:solidFill>
                <a:latin typeface="Arial"/>
                <a:cs typeface="Arial"/>
              </a:defRPr>
            </a:lvl2pPr>
            <a:lvl3pPr marL="767981" indent="-383990">
              <a:spcBef>
                <a:spcPts val="1333"/>
              </a:spcBef>
              <a:buFont typeface="Lucida Grande"/>
              <a:buChar char="–"/>
              <a:defRPr sz="3200">
                <a:solidFill>
                  <a:srgbClr val="54145A"/>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946740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705600" y="4114798"/>
            <a:ext cx="1379855" cy="1371600"/>
          </a:xfrm>
          <a:custGeom>
            <a:avLst/>
            <a:gdLst/>
            <a:ahLst/>
            <a:cxnLst/>
            <a:rect l="l" t="t" r="r" b="b"/>
            <a:pathLst>
              <a:path w="1379854" h="1371600">
                <a:moveTo>
                  <a:pt x="1371600" y="0"/>
                </a:moveTo>
                <a:lnTo>
                  <a:pt x="0" y="1"/>
                </a:lnTo>
                <a:lnTo>
                  <a:pt x="1143" y="56376"/>
                </a:lnTo>
                <a:lnTo>
                  <a:pt x="3900" y="104096"/>
                </a:lnTo>
                <a:lnTo>
                  <a:pt x="8267" y="151363"/>
                </a:lnTo>
                <a:lnTo>
                  <a:pt x="14218" y="198148"/>
                </a:lnTo>
                <a:lnTo>
                  <a:pt x="21725" y="244427"/>
                </a:lnTo>
                <a:lnTo>
                  <a:pt x="30761" y="290170"/>
                </a:lnTo>
                <a:lnTo>
                  <a:pt x="41298" y="335352"/>
                </a:lnTo>
                <a:lnTo>
                  <a:pt x="53309" y="379944"/>
                </a:lnTo>
                <a:lnTo>
                  <a:pt x="66767" y="423921"/>
                </a:lnTo>
                <a:lnTo>
                  <a:pt x="81645" y="467255"/>
                </a:lnTo>
                <a:lnTo>
                  <a:pt x="97914" y="509919"/>
                </a:lnTo>
                <a:lnTo>
                  <a:pt x="115548" y="551886"/>
                </a:lnTo>
                <a:lnTo>
                  <a:pt x="134519" y="593129"/>
                </a:lnTo>
                <a:lnTo>
                  <a:pt x="154800" y="633622"/>
                </a:lnTo>
                <a:lnTo>
                  <a:pt x="176363" y="673336"/>
                </a:lnTo>
                <a:lnTo>
                  <a:pt x="199182" y="712244"/>
                </a:lnTo>
                <a:lnTo>
                  <a:pt x="223228" y="750321"/>
                </a:lnTo>
                <a:lnTo>
                  <a:pt x="248475" y="787539"/>
                </a:lnTo>
                <a:lnTo>
                  <a:pt x="274895" y="823870"/>
                </a:lnTo>
                <a:lnTo>
                  <a:pt x="302461" y="859288"/>
                </a:lnTo>
                <a:lnTo>
                  <a:pt x="331145" y="893766"/>
                </a:lnTo>
                <a:lnTo>
                  <a:pt x="360920" y="927276"/>
                </a:lnTo>
                <a:lnTo>
                  <a:pt x="391759" y="959792"/>
                </a:lnTo>
                <a:lnTo>
                  <a:pt x="423633" y="991287"/>
                </a:lnTo>
                <a:lnTo>
                  <a:pt x="456517" y="1021733"/>
                </a:lnTo>
                <a:lnTo>
                  <a:pt x="490383" y="1051104"/>
                </a:lnTo>
                <a:lnTo>
                  <a:pt x="525202" y="1079372"/>
                </a:lnTo>
                <a:lnTo>
                  <a:pt x="560948" y="1106511"/>
                </a:lnTo>
                <a:lnTo>
                  <a:pt x="597594" y="1132493"/>
                </a:lnTo>
                <a:lnTo>
                  <a:pt x="635112" y="1157291"/>
                </a:lnTo>
                <a:lnTo>
                  <a:pt x="673474" y="1180879"/>
                </a:lnTo>
                <a:lnTo>
                  <a:pt x="712654" y="1203229"/>
                </a:lnTo>
                <a:lnTo>
                  <a:pt x="752624" y="1224315"/>
                </a:lnTo>
                <a:lnTo>
                  <a:pt x="793356" y="1244109"/>
                </a:lnTo>
                <a:lnTo>
                  <a:pt x="834824" y="1262584"/>
                </a:lnTo>
                <a:lnTo>
                  <a:pt x="877000" y="1279713"/>
                </a:lnTo>
                <a:lnTo>
                  <a:pt x="919856" y="1295469"/>
                </a:lnTo>
                <a:lnTo>
                  <a:pt x="963365" y="1309825"/>
                </a:lnTo>
                <a:lnTo>
                  <a:pt x="1007500" y="1322754"/>
                </a:lnTo>
                <a:lnTo>
                  <a:pt x="1052234" y="1334230"/>
                </a:lnTo>
                <a:lnTo>
                  <a:pt x="1097539" y="1344224"/>
                </a:lnTo>
                <a:lnTo>
                  <a:pt x="1143387" y="1352711"/>
                </a:lnTo>
                <a:lnTo>
                  <a:pt x="1189752" y="1359662"/>
                </a:lnTo>
                <a:lnTo>
                  <a:pt x="1236606" y="1365051"/>
                </a:lnTo>
                <a:lnTo>
                  <a:pt x="1283921" y="1368851"/>
                </a:lnTo>
                <a:lnTo>
                  <a:pt x="1331671" y="1371035"/>
                </a:lnTo>
                <a:lnTo>
                  <a:pt x="1379828" y="1371575"/>
                </a:lnTo>
                <a:lnTo>
                  <a:pt x="1371600" y="0"/>
                </a:lnTo>
                <a:close/>
              </a:path>
            </a:pathLst>
          </a:custGeom>
          <a:solidFill>
            <a:srgbClr val="565F6F"/>
          </a:solidFill>
        </p:spPr>
        <p:txBody>
          <a:bodyPr wrap="square" lIns="0" tIns="0" rIns="0" bIns="0" rtlCol="0"/>
          <a:lstStyle/>
          <a:p>
            <a:endParaRPr/>
          </a:p>
        </p:txBody>
      </p:sp>
      <p:sp>
        <p:nvSpPr>
          <p:cNvPr id="17" name="bg object 17"/>
          <p:cNvSpPr/>
          <p:nvPr/>
        </p:nvSpPr>
        <p:spPr>
          <a:xfrm>
            <a:off x="8077200" y="0"/>
            <a:ext cx="4114800" cy="6858000"/>
          </a:xfrm>
          <a:custGeom>
            <a:avLst/>
            <a:gdLst/>
            <a:ahLst/>
            <a:cxnLst/>
            <a:rect l="l" t="t" r="r" b="b"/>
            <a:pathLst>
              <a:path w="4114800" h="6858000">
                <a:moveTo>
                  <a:pt x="4114749" y="4098340"/>
                </a:moveTo>
                <a:lnTo>
                  <a:pt x="2743200" y="4106570"/>
                </a:lnTo>
                <a:lnTo>
                  <a:pt x="2743200" y="2743200"/>
                </a:lnTo>
                <a:lnTo>
                  <a:pt x="1371600" y="2743200"/>
                </a:lnTo>
                <a:lnTo>
                  <a:pt x="0" y="2743200"/>
                </a:lnTo>
                <a:lnTo>
                  <a:pt x="0" y="4114800"/>
                </a:lnTo>
                <a:lnTo>
                  <a:pt x="1371600" y="4114800"/>
                </a:lnTo>
                <a:lnTo>
                  <a:pt x="1371600" y="5486400"/>
                </a:lnTo>
                <a:lnTo>
                  <a:pt x="0" y="5486400"/>
                </a:lnTo>
                <a:lnTo>
                  <a:pt x="0" y="6858000"/>
                </a:lnTo>
                <a:lnTo>
                  <a:pt x="1371600" y="6858000"/>
                </a:lnTo>
                <a:lnTo>
                  <a:pt x="1436306" y="6857251"/>
                </a:lnTo>
                <a:lnTo>
                  <a:pt x="1484350" y="6855714"/>
                </a:lnTo>
                <a:lnTo>
                  <a:pt x="1532178" y="6853364"/>
                </a:lnTo>
                <a:lnTo>
                  <a:pt x="1579791" y="6850202"/>
                </a:lnTo>
                <a:lnTo>
                  <a:pt x="1627174" y="6846240"/>
                </a:lnTo>
                <a:lnTo>
                  <a:pt x="1674317" y="6841464"/>
                </a:lnTo>
                <a:lnTo>
                  <a:pt x="1721231" y="6835915"/>
                </a:lnTo>
                <a:lnTo>
                  <a:pt x="1767890" y="6829565"/>
                </a:lnTo>
                <a:lnTo>
                  <a:pt x="1814296" y="6822453"/>
                </a:lnTo>
                <a:lnTo>
                  <a:pt x="1860448" y="6814553"/>
                </a:lnTo>
                <a:lnTo>
                  <a:pt x="1906320" y="6805892"/>
                </a:lnTo>
                <a:lnTo>
                  <a:pt x="1951939" y="6796481"/>
                </a:lnTo>
                <a:lnTo>
                  <a:pt x="1997252" y="6786321"/>
                </a:lnTo>
                <a:lnTo>
                  <a:pt x="2042299" y="6775412"/>
                </a:lnTo>
                <a:lnTo>
                  <a:pt x="2087041" y="6763766"/>
                </a:lnTo>
                <a:lnTo>
                  <a:pt x="2131479" y="6751383"/>
                </a:lnTo>
                <a:lnTo>
                  <a:pt x="2175611" y="6738290"/>
                </a:lnTo>
                <a:lnTo>
                  <a:pt x="2219439" y="6724472"/>
                </a:lnTo>
                <a:lnTo>
                  <a:pt x="2262936" y="6709943"/>
                </a:lnTo>
                <a:lnTo>
                  <a:pt x="2306104" y="6694716"/>
                </a:lnTo>
                <a:lnTo>
                  <a:pt x="2348941" y="6678790"/>
                </a:lnTo>
                <a:lnTo>
                  <a:pt x="2391435" y="6662179"/>
                </a:lnTo>
                <a:lnTo>
                  <a:pt x="2433574" y="6644881"/>
                </a:lnTo>
                <a:lnTo>
                  <a:pt x="2475369" y="6626911"/>
                </a:lnTo>
                <a:lnTo>
                  <a:pt x="2516797" y="6608267"/>
                </a:lnTo>
                <a:lnTo>
                  <a:pt x="2557856" y="6588963"/>
                </a:lnTo>
                <a:lnTo>
                  <a:pt x="2598534" y="6569011"/>
                </a:lnTo>
                <a:lnTo>
                  <a:pt x="2638831" y="6548399"/>
                </a:lnTo>
                <a:lnTo>
                  <a:pt x="2678747" y="6527152"/>
                </a:lnTo>
                <a:lnTo>
                  <a:pt x="2718270" y="6505283"/>
                </a:lnTo>
                <a:lnTo>
                  <a:pt x="2757373" y="6482766"/>
                </a:lnTo>
                <a:lnTo>
                  <a:pt x="2796082" y="6459639"/>
                </a:lnTo>
                <a:lnTo>
                  <a:pt x="2834373" y="6435903"/>
                </a:lnTo>
                <a:lnTo>
                  <a:pt x="2872232" y="6411544"/>
                </a:lnTo>
                <a:lnTo>
                  <a:pt x="2909671" y="6386601"/>
                </a:lnTo>
                <a:lnTo>
                  <a:pt x="2946666" y="6361049"/>
                </a:lnTo>
                <a:lnTo>
                  <a:pt x="2983230" y="6334925"/>
                </a:lnTo>
                <a:lnTo>
                  <a:pt x="3019336" y="6308217"/>
                </a:lnTo>
                <a:lnTo>
                  <a:pt x="3054985" y="6280937"/>
                </a:lnTo>
                <a:lnTo>
                  <a:pt x="3090164" y="6253086"/>
                </a:lnTo>
                <a:lnTo>
                  <a:pt x="3124885" y="6224676"/>
                </a:lnTo>
                <a:lnTo>
                  <a:pt x="3159125" y="6195720"/>
                </a:lnTo>
                <a:lnTo>
                  <a:pt x="3192881" y="6166205"/>
                </a:lnTo>
                <a:lnTo>
                  <a:pt x="3226143" y="6136170"/>
                </a:lnTo>
                <a:lnTo>
                  <a:pt x="3258909" y="6105588"/>
                </a:lnTo>
                <a:lnTo>
                  <a:pt x="3291179" y="6074486"/>
                </a:lnTo>
                <a:lnTo>
                  <a:pt x="3322929" y="6042863"/>
                </a:lnTo>
                <a:lnTo>
                  <a:pt x="3354171" y="6010732"/>
                </a:lnTo>
                <a:lnTo>
                  <a:pt x="3384880" y="5978106"/>
                </a:lnTo>
                <a:lnTo>
                  <a:pt x="3415055" y="5944971"/>
                </a:lnTo>
                <a:lnTo>
                  <a:pt x="3444710" y="5911342"/>
                </a:lnTo>
                <a:lnTo>
                  <a:pt x="3473805" y="5877242"/>
                </a:lnTo>
                <a:lnTo>
                  <a:pt x="3502355" y="5842660"/>
                </a:lnTo>
                <a:lnTo>
                  <a:pt x="3530333" y="5807595"/>
                </a:lnTo>
                <a:lnTo>
                  <a:pt x="3557765" y="5772086"/>
                </a:lnTo>
                <a:lnTo>
                  <a:pt x="3584613" y="5736107"/>
                </a:lnTo>
                <a:lnTo>
                  <a:pt x="3610889" y="5699684"/>
                </a:lnTo>
                <a:lnTo>
                  <a:pt x="3636581" y="5662815"/>
                </a:lnTo>
                <a:lnTo>
                  <a:pt x="3661676" y="5625516"/>
                </a:lnTo>
                <a:lnTo>
                  <a:pt x="3686175" y="5587784"/>
                </a:lnTo>
                <a:lnTo>
                  <a:pt x="3710076" y="5549620"/>
                </a:lnTo>
                <a:lnTo>
                  <a:pt x="3733355" y="5511050"/>
                </a:lnTo>
                <a:lnTo>
                  <a:pt x="3756012" y="5472074"/>
                </a:lnTo>
                <a:lnTo>
                  <a:pt x="3778059" y="5432691"/>
                </a:lnTo>
                <a:lnTo>
                  <a:pt x="3799459" y="5392915"/>
                </a:lnTo>
                <a:lnTo>
                  <a:pt x="3820223" y="5352758"/>
                </a:lnTo>
                <a:lnTo>
                  <a:pt x="3840340" y="5312207"/>
                </a:lnTo>
                <a:lnTo>
                  <a:pt x="3859809" y="5271287"/>
                </a:lnTo>
                <a:lnTo>
                  <a:pt x="3878618" y="5229999"/>
                </a:lnTo>
                <a:lnTo>
                  <a:pt x="3896766" y="5188356"/>
                </a:lnTo>
                <a:lnTo>
                  <a:pt x="3914229" y="5146357"/>
                </a:lnTo>
                <a:lnTo>
                  <a:pt x="3931018" y="5104003"/>
                </a:lnTo>
                <a:lnTo>
                  <a:pt x="3947122" y="5061318"/>
                </a:lnTo>
                <a:lnTo>
                  <a:pt x="3962527" y="5018290"/>
                </a:lnTo>
                <a:lnTo>
                  <a:pt x="3977246" y="4974945"/>
                </a:lnTo>
                <a:lnTo>
                  <a:pt x="3991241" y="4931270"/>
                </a:lnTo>
                <a:lnTo>
                  <a:pt x="4004538" y="4887290"/>
                </a:lnTo>
                <a:lnTo>
                  <a:pt x="4017099" y="4843005"/>
                </a:lnTo>
                <a:lnTo>
                  <a:pt x="4028948" y="4798415"/>
                </a:lnTo>
                <a:lnTo>
                  <a:pt x="4040060" y="4753534"/>
                </a:lnTo>
                <a:lnTo>
                  <a:pt x="4050423" y="4708372"/>
                </a:lnTo>
                <a:lnTo>
                  <a:pt x="4060037" y="4662932"/>
                </a:lnTo>
                <a:lnTo>
                  <a:pt x="4068915" y="4617212"/>
                </a:lnTo>
                <a:lnTo>
                  <a:pt x="4077017" y="4571225"/>
                </a:lnTo>
                <a:lnTo>
                  <a:pt x="4084358" y="4524984"/>
                </a:lnTo>
                <a:lnTo>
                  <a:pt x="4090924" y="4478502"/>
                </a:lnTo>
                <a:lnTo>
                  <a:pt x="4096702" y="4431766"/>
                </a:lnTo>
                <a:lnTo>
                  <a:pt x="4101693" y="4384789"/>
                </a:lnTo>
                <a:lnTo>
                  <a:pt x="4105897" y="4337583"/>
                </a:lnTo>
                <a:lnTo>
                  <a:pt x="4109301" y="4290161"/>
                </a:lnTo>
                <a:lnTo>
                  <a:pt x="4111891" y="4242511"/>
                </a:lnTo>
                <a:lnTo>
                  <a:pt x="4113669" y="4194657"/>
                </a:lnTo>
                <a:lnTo>
                  <a:pt x="4114622" y="4146600"/>
                </a:lnTo>
                <a:lnTo>
                  <a:pt x="4114749" y="4098340"/>
                </a:lnTo>
                <a:close/>
              </a:path>
              <a:path w="4114800" h="6858000">
                <a:moveTo>
                  <a:pt x="4114800" y="0"/>
                </a:moveTo>
                <a:lnTo>
                  <a:pt x="2743200" y="0"/>
                </a:lnTo>
                <a:lnTo>
                  <a:pt x="1371600" y="0"/>
                </a:lnTo>
                <a:lnTo>
                  <a:pt x="1371600" y="1371600"/>
                </a:lnTo>
                <a:lnTo>
                  <a:pt x="2743200" y="1371600"/>
                </a:lnTo>
                <a:lnTo>
                  <a:pt x="2743200" y="2743200"/>
                </a:lnTo>
                <a:lnTo>
                  <a:pt x="4114800" y="2743200"/>
                </a:lnTo>
                <a:lnTo>
                  <a:pt x="4114800" y="1371600"/>
                </a:lnTo>
                <a:lnTo>
                  <a:pt x="4114800" y="0"/>
                </a:lnTo>
                <a:close/>
              </a:path>
            </a:pathLst>
          </a:custGeom>
          <a:solidFill>
            <a:srgbClr val="565F6F"/>
          </a:solidFill>
        </p:spPr>
        <p:txBody>
          <a:bodyPr wrap="square" lIns="0" tIns="0" rIns="0" bIns="0" rtlCol="0"/>
          <a:lstStyle/>
          <a:p>
            <a:endParaRPr/>
          </a:p>
        </p:txBody>
      </p:sp>
      <p:sp>
        <p:nvSpPr>
          <p:cNvPr id="2" name="Holder 2"/>
          <p:cNvSpPr>
            <a:spLocks noGrp="1"/>
          </p:cNvSpPr>
          <p:nvPr>
            <p:ph type="ctrTitle"/>
          </p:nvPr>
        </p:nvSpPr>
        <p:spPr>
          <a:xfrm>
            <a:off x="383540" y="1599691"/>
            <a:ext cx="3837304" cy="756919"/>
          </a:xfrm>
          <a:prstGeom prst="rect">
            <a:avLst/>
          </a:prstGeom>
        </p:spPr>
        <p:txBody>
          <a:bodyPr wrap="square" lIns="0" tIns="0" rIns="0" bIns="0">
            <a:spAutoFit/>
          </a:bodyPr>
          <a:lstStyle>
            <a:lvl1pPr>
              <a:defRPr sz="2000" b="0" i="0">
                <a:solidFill>
                  <a:srgbClr val="565F6F"/>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rgbClr val="2F3442"/>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084237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400" b="0" i="0">
                <a:solidFill>
                  <a:srgbClr val="2F3442"/>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6766879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407190" y="2443921"/>
            <a:ext cx="1009650" cy="254000"/>
          </a:xfrm>
          <a:prstGeom prst="rect">
            <a:avLst/>
          </a:prstGeom>
        </p:spPr>
      </p:pic>
      <p:pic>
        <p:nvPicPr>
          <p:cNvPr id="17" name="bg object 17"/>
          <p:cNvPicPr/>
          <p:nvPr/>
        </p:nvPicPr>
        <p:blipFill>
          <a:blip r:embed="rId3" cstate="print"/>
          <a:stretch>
            <a:fillRect/>
          </a:stretch>
        </p:blipFill>
        <p:spPr>
          <a:xfrm>
            <a:off x="9296400" y="2431221"/>
            <a:ext cx="831849" cy="254000"/>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769608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407190" y="2443921"/>
            <a:ext cx="1009650" cy="254000"/>
          </a:xfrm>
          <a:prstGeom prst="rect">
            <a:avLst/>
          </a:prstGeom>
        </p:spPr>
      </p:pic>
      <p:pic>
        <p:nvPicPr>
          <p:cNvPr id="17" name="bg object 17"/>
          <p:cNvPicPr/>
          <p:nvPr/>
        </p:nvPicPr>
        <p:blipFill>
          <a:blip r:embed="rId3" cstate="print"/>
          <a:stretch>
            <a:fillRect/>
          </a:stretch>
        </p:blipFill>
        <p:spPr>
          <a:xfrm>
            <a:off x="9296400" y="2431221"/>
            <a:ext cx="831849" cy="254000"/>
          </a:xfrm>
          <a:prstGeom prst="rect">
            <a:avLst/>
          </a:prstGeom>
        </p:spPr>
      </p:pic>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7732458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18866446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E05189BA-01D0-0648-AF2A-6B4CD6B57EC9}" type="datetimeFigureOut">
              <a:rPr lang="en-US" smtClean="0"/>
              <a:t>1/8/2026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3E1F0FCF-E24C-CA41-A373-9E4EFBCD4E25}" type="slidenum">
              <a:rPr lang="en-US" smtClean="0"/>
              <a:t>‹#›</a:t>
            </a:fld>
            <a:endParaRPr lang="en-US"/>
          </a:p>
        </p:txBody>
      </p:sp>
    </p:spTree>
    <p:extLst>
      <p:ext uri="{BB962C8B-B14F-4D97-AF65-F5344CB8AC3E}">
        <p14:creationId xmlns:p14="http://schemas.microsoft.com/office/powerpoint/2010/main" val="713788537"/>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2" r:id="rId6"/>
    <p:sldLayoutId id="2147483659" r:id="rId7"/>
    <p:sldLayoutId id="2147483660" r:id="rId8"/>
    <p:sldLayoutId id="2147483658" r:id="rId9"/>
    <p:sldLayoutId id="2147483661" r:id="rId10"/>
    <p:sldLayoutId id="2147483662" r:id="rId11"/>
    <p:sldLayoutId id="2147483663" r:id="rId12"/>
    <p:sldLayoutId id="2147483664" r:id="rId13"/>
    <p:sldLayoutId id="2147483665" r:id="rId14"/>
  </p:sldLayoutIdLst>
  <p:txStyles>
    <p:titleStyle>
      <a:lvl1pPr algn="ctr" defTabSz="609585"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609585" rtl="0" eaLnBrk="1" latinLnBrk="0" hangingPunct="1">
        <a:spcBef>
          <a:spcPct val="20000"/>
        </a:spcBef>
        <a:buFont typeface="Arial"/>
        <a:buChar char="•"/>
        <a:defRPr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a:solidFill>
                  <a:srgbClr val="000000"/>
                </a:solidFill>
              </a:rPr>
              <a:t>Understanding Attention Mechanism</a:t>
            </a:r>
          </a:p>
        </p:txBody>
      </p:sp>
      <p:sp>
        <p:nvSpPr>
          <p:cNvPr id="3" name="Subtitle 2"/>
          <p:cNvSpPr>
            <a:spLocks noGrp="1"/>
          </p:cNvSpPr>
          <p:nvPr>
            <p:ph type="subTitle" idx="1"/>
          </p:nvPr>
        </p:nvSpPr>
        <p:spPr/>
        <p:txBody>
          <a:bodyPr/>
          <a:lstStyle/>
          <a:p>
            <a:r>
              <a:rPr>
                <a:solidFill>
                  <a:srgbClr val="000000"/>
                </a:solidFill>
              </a:rPr>
              <a:t>Exploring the Core Concepts and Applications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Introduction to Attention Mechanism</a:t>
            </a:r>
          </a:p>
        </p:txBody>
      </p:sp>
      <p:sp>
        <p:nvSpPr>
          <p:cNvPr id="3" name="Content Placeholder 2"/>
          <p:cNvSpPr>
            <a:spLocks noGrp="1"/>
          </p:cNvSpPr>
          <p:nvPr>
            <p:ph idx="11" sz="quarter"/>
          </p:nvPr>
        </p:nvSpPr>
        <p:spPr/>
        <p:txBody>
          <a:bodyPr/>
          <a:lstStyle/>
          <a:p>
            <a:r>
              <a:rPr>
                <a:solidFill>
                  <a:srgbClr val="000000"/>
                </a:solidFill>
              </a:rPr>
              <a:t>The attention mechanism is a neural network component that dynamically highlights specific parts of the input data, allowing models to focus on relevant information. This mechanism is crucial in improving the performance of models in tasks like language translation, image processing, and more.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The Core Idea</a:t>
            </a:r>
          </a:p>
        </p:txBody>
      </p:sp>
      <p:sp>
        <p:nvSpPr>
          <p:cNvPr id="3" name="Content Placeholder 2"/>
          <p:cNvSpPr>
            <a:spLocks noGrp="1"/>
          </p:cNvSpPr>
          <p:nvPr>
            <p:ph idx="12" sz="quarter"/>
          </p:nvPr>
        </p:nvSpPr>
        <p:spPr/>
        <p:txBody>
          <a:bodyPr/>
          <a:lstStyle/>
          <a:p>
            <a:r>
              <a:rPr>
                <a:solidFill>
                  <a:srgbClr val="000000"/>
                </a:solidFill>
              </a:rPr>
              <a:t>Attention allows the model to weigh the importance of different input parts, similar to how humans focus on certain elements when processing information.</a:t>
            </a:r>
          </a:p>
        </p:txBody>
      </p:sp>
      <p:pic>
        <p:nvPicPr>
          <p:cNvPr id="4" name="Picture 3" descr="formula_2.png"/>
          <p:cNvPicPr>
            <a:picLocks noChangeAspect="1"/>
          </p:cNvPicPr>
          <p:nvPr/>
        </p:nvPicPr>
        <p:blipFill>
          <a:blip r:embed="rId2"/>
          <a:stretch>
            <a:fillRect/>
          </a:stretch>
        </p:blipFill>
        <p:spPr>
          <a:xfrm>
            <a:off x="6289002" y="1632944"/>
            <a:ext cx="5076253" cy="3886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Applications of Attention</a:t>
            </a:r>
          </a:p>
        </p:txBody>
      </p:sp>
      <p:sp>
        <p:nvSpPr>
          <p:cNvPr id="3" name="Content Placeholder 2"/>
          <p:cNvSpPr>
            <a:spLocks noGrp="1"/>
          </p:cNvSpPr>
          <p:nvPr>
            <p:ph idx="11" sz="quarter"/>
          </p:nvPr>
        </p:nvSpPr>
        <p:spPr/>
        <p:txBody>
          <a:bodyPr/>
          <a:lstStyle/>
          <a:p>
            <a:r>
              <a:rPr>
                <a:solidFill>
                  <a:srgbClr val="000000"/>
                </a:solidFill>
              </a:rPr>
              <a:t>Attention mechanisms are widely used in natural language processing tasks such as translation and summarization, as well as in computer vision for image captioning and object detection.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Attention in Action</a:t>
            </a:r>
          </a:p>
        </p:txBody>
      </p:sp>
      <p:sp>
        <p:nvSpPr>
          <p:cNvPr id="3" name="Content Placeholder 2"/>
          <p:cNvSpPr>
            <a:spLocks noGrp="1"/>
          </p:cNvSpPr>
          <p:nvPr>
            <p:ph idx="12" sz="quarter"/>
          </p:nvPr>
        </p:nvSpPr>
        <p:spPr/>
        <p:txBody>
          <a:bodyPr/>
          <a:lstStyle/>
          <a:p>
            <a:r>
              <a:rPr>
                <a:solidFill>
                  <a:srgbClr val="000000"/>
                </a:solidFill>
              </a:rPr>
              <a:t>Consider a language translation model where each word in a sentence is weighted differently based on its relevance to the current word being translated.</a:t>
            </a:r>
          </a:p>
        </p:txBody>
      </p:sp>
      <p:pic>
        <p:nvPicPr>
          <p:cNvPr id="4" name="Picture 3" descr="chart_4.png"/>
          <p:cNvPicPr>
            <a:picLocks noChangeAspect="1"/>
          </p:cNvPicPr>
          <p:nvPr/>
        </p:nvPicPr>
        <p:blipFill>
          <a:blip r:embed="rId2"/>
          <a:stretch>
            <a:fillRect/>
          </a:stretch>
        </p:blipFill>
        <p:spPr>
          <a:xfrm>
            <a:off x="6289002" y="1632944"/>
            <a:ext cx="5076253" cy="3886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Types of Attention Mechanisms</a:t>
            </a:r>
          </a:p>
        </p:txBody>
      </p:sp>
      <p:sp>
        <p:nvSpPr>
          <p:cNvPr id="3" name="Content Placeholder 2"/>
          <p:cNvSpPr>
            <a:spLocks noGrp="1"/>
          </p:cNvSpPr>
          <p:nvPr>
            <p:ph idx="11" sz="quarter"/>
          </p:nvPr>
        </p:nvSpPr>
        <p:spPr/>
        <p:txBody>
          <a:bodyPr/>
          <a:lstStyle/>
          <a:p>
            <a:r>
              <a:rPr>
                <a:solidFill>
                  <a:srgbClr val="000000"/>
                </a:solidFill>
              </a:rPr>
              <a:t>There are various types of attention mechanisms, including self-attention, where a sequence's elements attend to each other, and cross-attention, where elements from one sequence attend to elements from another sequence.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Self-attention Example</a:t>
            </a:r>
          </a:p>
        </p:txBody>
      </p:sp>
      <p:sp>
        <p:nvSpPr>
          <p:cNvPr id="3" name="Content Placeholder 2"/>
          <p:cNvSpPr>
            <a:spLocks noGrp="1"/>
          </p:cNvSpPr>
          <p:nvPr>
            <p:ph idx="12" sz="quarter"/>
          </p:nvPr>
        </p:nvSpPr>
        <p:spPr/>
        <p:txBody>
          <a:bodyPr/>
          <a:lstStyle/>
          <a:p>
            <a:r>
              <a:rPr>
                <a:solidFill>
                  <a:srgbClr val="000000"/>
                </a:solidFill>
              </a:rPr>
              <a:t>In self-attention, each word in a sentence is compared with every other word to model the relationships between them.</a:t>
            </a:r>
          </a:p>
        </p:txBody>
      </p:sp>
      <p:pic>
        <p:nvPicPr>
          <p:cNvPr id="4" name="Picture 3" descr="code_6.png"/>
          <p:cNvPicPr>
            <a:picLocks noChangeAspect="1"/>
          </p:cNvPicPr>
          <p:nvPr/>
        </p:nvPicPr>
        <p:blipFill>
          <a:blip r:embed="rId2"/>
          <a:stretch>
            <a:fillRect/>
          </a:stretch>
        </p:blipFill>
        <p:spPr>
          <a:xfrm>
            <a:off x="6289002" y="1632944"/>
            <a:ext cx="5076253" cy="3886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Conclusion</a:t>
            </a:r>
          </a:p>
        </p:txBody>
      </p:sp>
      <p:sp>
        <p:nvSpPr>
          <p:cNvPr id="3" name="Content Placeholder 2"/>
          <p:cNvSpPr>
            <a:spLocks noGrp="1"/>
          </p:cNvSpPr>
          <p:nvPr>
            <p:ph idx="11" sz="quarter"/>
          </p:nvPr>
        </p:nvSpPr>
        <p:spPr/>
        <p:txBody>
          <a:bodyPr/>
          <a:lstStyle/>
          <a:p>
            <a:r>
              <a:rPr>
                <a:solidFill>
                  <a:srgbClr val="000000"/>
                </a:solidFill>
              </a:rPr>
              <a:t>Attention mechanisms have revolutionized machine learning by enabling models to selectively process information, leading to significant improvements in accuracy and efficiency across various tasks.</a:t>
            </a:r>
          </a:p>
        </p:txBody>
      </p:sp>
    </p:spTree>
  </p:cSld>
  <p:clrMapOvr>
    <a:masterClrMapping/>
  </p:clrMapOvr>
</p:sld>
</file>

<file path=ppt/theme/theme1.xml><?xml version="1.0" encoding="utf-8"?>
<a:theme xmlns:a="http://schemas.openxmlformats.org/drawingml/2006/main" name="Office Theme">
  <a:themeElements>
    <a:clrScheme name="Durham University">
      <a:dk1>
        <a:srgbClr val="002A41"/>
      </a:dk1>
      <a:lt1>
        <a:sysClr val="window" lastClr="FFFFFF"/>
      </a:lt1>
      <a:dk2>
        <a:srgbClr val="54145A"/>
      </a:dk2>
      <a:lt2>
        <a:srgbClr val="CBA8B1"/>
      </a:lt2>
      <a:accent1>
        <a:srgbClr val="00AEEF"/>
      </a:accent1>
      <a:accent2>
        <a:srgbClr val="A5C8D0"/>
      </a:accent2>
      <a:accent3>
        <a:srgbClr val="AFA961"/>
      </a:accent3>
      <a:accent4>
        <a:srgbClr val="B3BDB1"/>
      </a:accent4>
      <a:accent5>
        <a:srgbClr val="FFD53A"/>
      </a:accent5>
      <a:accent6>
        <a:srgbClr val="DACDA2"/>
      </a:accent6>
      <a:hlink>
        <a:srgbClr val="BE1E2D"/>
      </a:hlink>
      <a:folHlink>
        <a:srgbClr val="B6AAA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urham University_powerpoint 29.08.19 FINAL.potx" id="{15F0B36B-451E-467F-AC1D-6B634029385F}" vid="{75B5DF01-1AD8-4B24-959A-92377C0E24A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e6f4c5e-d68b-487b-9c02-caf7e61d6b66">
      <Terms xmlns="http://schemas.microsoft.com/office/infopath/2007/PartnerControls"/>
    </lcf76f155ced4ddcb4097134ff3c332f>
    <TaxCatchAll xmlns="3bf6d2de-cfb7-466c-825b-051a8e3c8b7d" xsi:nil="true"/>
    <SharedWithUsers xmlns="a0bf372a-9d90-4a81-85ce-8e7bbe717490">
      <UserInfo>
        <DisplayName>PRZYBORSKI, STEFAN A.</DisplayName>
        <AccountId>131</AccountId>
        <AccountType/>
      </UserInfo>
      <UserInfo>
        <DisplayName>ROBINSON, MATTHEW</DisplayName>
        <AccountId>50</AccountId>
        <AccountType/>
      </UserInfo>
      <UserInfo>
        <DisplayName>WEBSTER, PAULA</DisplayName>
        <AccountId>65</AccountId>
        <AccountType/>
      </UserInfo>
      <UserInfo>
        <DisplayName>MCDONALD, CLAIRE</DisplayName>
        <AccountId>16</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67F80A658ED444C8098A6C8835B3712" ma:contentTypeVersion="16" ma:contentTypeDescription="Create a new document." ma:contentTypeScope="" ma:versionID="5d2edc2167da6d1bb792dea4684e7ecf">
  <xsd:schema xmlns:xsd="http://www.w3.org/2001/XMLSchema" xmlns:xs="http://www.w3.org/2001/XMLSchema" xmlns:p="http://schemas.microsoft.com/office/2006/metadata/properties" xmlns:ns2="6e6f4c5e-d68b-487b-9c02-caf7e61d6b66" xmlns:ns3="a0bf372a-9d90-4a81-85ce-8e7bbe717490" xmlns:ns4="3bf6d2de-cfb7-466c-825b-051a8e3c8b7d" targetNamespace="http://schemas.microsoft.com/office/2006/metadata/properties" ma:root="true" ma:fieldsID="b1a976468ab75df09cdefb8882f83837" ns2:_="" ns3:_="" ns4:_="">
    <xsd:import namespace="6e6f4c5e-d68b-487b-9c02-caf7e61d6b66"/>
    <xsd:import namespace="a0bf372a-9d90-4a81-85ce-8e7bbe717490"/>
    <xsd:import namespace="3bf6d2de-cfb7-466c-825b-051a8e3c8b7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Location" minOccurs="0"/>
                <xsd:element ref="ns2:lcf76f155ced4ddcb4097134ff3c332f" minOccurs="0"/>
                <xsd:element ref="ns4:TaxCatchAll"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6f4c5e-d68b-487b-9c02-caf7e61d6b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d651d785-cc9b-461e-a4c9-c589c330ffeb"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0bf372a-9d90-4a81-85ce-8e7bbe717490"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bf6d2de-cfb7-466c-825b-051a8e3c8b7d"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cf60340b-b3ab-4429-ad0e-954f6226807c}" ma:internalName="TaxCatchAll" ma:showField="CatchAllData" ma:web="a0bf372a-9d90-4a81-85ce-8e7bbe717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824A268-B20B-44AC-8616-436FFCA704C5}">
  <ds:schemaRefs>
    <ds:schemaRef ds:uri="3bf6d2de-cfb7-466c-825b-051a8e3c8b7d"/>
    <ds:schemaRef ds:uri="6e6f4c5e-d68b-487b-9c02-caf7e61d6b66"/>
    <ds:schemaRef ds:uri="http://schemas.microsoft.com/office/2006/metadata/properties"/>
    <ds:schemaRef ds:uri="http://schemas.microsoft.com/office/infopath/2007/PartnerControls"/>
    <ds:schemaRef ds:uri="a0bf372a-9d90-4a81-85ce-8e7bbe717490"/>
  </ds:schemaRefs>
</ds:datastoreItem>
</file>

<file path=customXml/itemProps2.xml><?xml version="1.0" encoding="utf-8"?>
<ds:datastoreItem xmlns:ds="http://schemas.openxmlformats.org/officeDocument/2006/customXml" ds:itemID="{1DE96671-C665-44F0-AC6D-2E9A17D50BEA}">
  <ds:schemaRefs>
    <ds:schemaRef ds:uri="http://schemas.microsoft.com/sharepoint/v3/contenttype/forms"/>
  </ds:schemaRefs>
</ds:datastoreItem>
</file>

<file path=customXml/itemProps3.xml><?xml version="1.0" encoding="utf-8"?>
<ds:datastoreItem xmlns:ds="http://schemas.openxmlformats.org/officeDocument/2006/customXml" ds:itemID="{E4D16294-DC56-4215-A5F8-1F17988B5EFC}">
  <ds:schemaRefs>
    <ds:schemaRef ds:uri="3bf6d2de-cfb7-466c-825b-051a8e3c8b7d"/>
    <ds:schemaRef ds:uri="6e6f4c5e-d68b-487b-9c02-caf7e61d6b66"/>
    <ds:schemaRef ds:uri="a0bf372a-9d90-4a81-85ce-8e7bbe71749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776</TotalTime>
  <Words>143</Words>
  <Application>Microsoft Office PowerPoint</Application>
  <PresentationFormat>Widescreen</PresentationFormat>
  <Paragraphs>39</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Lucida Grande</vt:lpstr>
      <vt:lpstr>Arial</vt:lpstr>
      <vt:lpstr>Calibri</vt:lpstr>
      <vt:lpstr>Wingdings</vt:lpstr>
      <vt:lpstr>Office Theme</vt:lpstr>
      <vt:lpstr>  Main Topic    subtopic         </vt:lpstr>
      <vt:lpstr>Overview</vt:lpstr>
      <vt:lpstr>Part 1</vt:lpstr>
      <vt:lpstr>Part 2</vt:lpstr>
      <vt:lpstr>Part n</vt:lpstr>
      <vt:lpstr>Ending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MCDONALD, CLAIRE</dc:creator>
  <cp:lastModifiedBy>PANG, CARLOS S. (Student)</cp:lastModifiedBy>
  <cp:revision>126</cp:revision>
  <dcterms:created xsi:type="dcterms:W3CDTF">2022-08-10T15:52:35Z</dcterms:created>
  <dcterms:modified xsi:type="dcterms:W3CDTF">2026-01-08T06:41:32Z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0x010100767F80A658ED444C8098A6C8835B3712</vt:lpwstr>
  </property>
  <property fmtid="{D5CDD505-2E9C-101B-9397-08002B2CF9AE}" pid="3" name="MediaServiceImageTags">
    <vt:lpwstr/>
  </property>
</Properties>
</file>
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7.jpg" ContentType="image/jpg"/>
  <Override PartName="/ppt/media/image8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10"/>
    <p:sldId id="257" r:id="rId9"/>
    <p:sldId id="258" r:id="rId8"/>
    <p:sldId id="259" r:id="rId7"/>
    <p:sldId id="260" r:id="rId6"/>
    <p:sldId id="261" r:id="rId5"/>
    <p:sldId id="262" r:id="rId16"/>
    <p:sldId id="263" r:id="rId17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84"/>
    <p:restoredTop sz="94726"/>
  </p:normalViewPr>
  <p:slideViewPr>
    <p:cSldViewPr snapToGrid="0">
      <p:cViewPr varScale="1">
        <p:scale>
          <a:sx n="78" d="100"/>
          <a:sy n="78" d="100"/>
        </p:scale>
        <p:origin x="107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openxmlformats.org/officeDocument/2006/relationships/slide" Target="slides/slide7.xml"/><Relationship Id="rId17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W, EFFIE L." userId="1c3177ca-747b-4691-ad45-4cbdbc050fd1" providerId="ADAL" clId="{06734445-D490-4A90-AC2A-6257025627FB}"/>
    <pc:docChg chg="modSld">
      <pc:chgData name="LAW, EFFIE L." userId="1c3177ca-747b-4691-ad45-4cbdbc050fd1" providerId="ADAL" clId="{06734445-D490-4A90-AC2A-6257025627FB}" dt="2025-10-03T09:12:37.245" v="30" actId="20577"/>
      <pc:docMkLst>
        <pc:docMk/>
      </pc:docMkLst>
      <pc:sldChg chg="modSp mod">
        <pc:chgData name="LAW, EFFIE L." userId="1c3177ca-747b-4691-ad45-4cbdbc050fd1" providerId="ADAL" clId="{06734445-D490-4A90-AC2A-6257025627FB}" dt="2025-10-03T09:12:37.245" v="30" actId="20577"/>
        <pc:sldMkLst>
          <pc:docMk/>
          <pc:sldMk cId="775193986" sldId="258"/>
        </pc:sldMkLst>
        <pc:spChg chg="mod">
          <ac:chgData name="LAW, EFFIE L." userId="1c3177ca-747b-4691-ad45-4cbdbc050fd1" providerId="ADAL" clId="{06734445-D490-4A90-AC2A-6257025627FB}" dt="2025-10-03T09:12:37.245" v="30" actId="20577"/>
          <ac:spMkLst>
            <pc:docMk/>
            <pc:sldMk cId="775193986" sldId="258"/>
            <ac:spMk id="2" creationId="{00000000-0000-0000-0000-000000000000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2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Relationship Id="rId3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Relationship Id="rId3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Purp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838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078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Gold">
    <p:bg>
      <p:bgPr>
        <a:solidFill>
          <a:srgbClr val="B3BD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941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Yellow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312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Red">
    <p:bg>
      <p:bgPr>
        <a:solidFill>
          <a:srgbClr val="B6AA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80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1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828737" y="1632944"/>
            <a:ext cx="7603571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49196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0" name="Content Placeholder 3"/>
          <p:cNvSpPr>
            <a:spLocks noGrp="1"/>
          </p:cNvSpPr>
          <p:nvPr>
            <p:ph sz="quarter" idx="12"/>
          </p:nvPr>
        </p:nvSpPr>
        <p:spPr>
          <a:xfrm>
            <a:off x="828738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289002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70916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82873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quarter" idx="14"/>
          </p:nvPr>
        </p:nvSpPr>
        <p:spPr>
          <a:xfrm>
            <a:off x="4473629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15"/>
          </p:nvPr>
        </p:nvSpPr>
        <p:spPr>
          <a:xfrm>
            <a:off x="811851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4770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Breaker Slide">
    <p:bg>
      <p:bgPr>
        <a:solidFill>
          <a:srgbClr val="A5C8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6" name="Content Placeholder 3"/>
          <p:cNvSpPr>
            <a:spLocks noGrp="1"/>
          </p:cNvSpPr>
          <p:nvPr>
            <p:ph sz="quarter" idx="11"/>
          </p:nvPr>
        </p:nvSpPr>
        <p:spPr>
          <a:xfrm>
            <a:off x="2844658" y="1632944"/>
            <a:ext cx="689186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333"/>
              </a:spcBef>
              <a:buNone/>
              <a:defRPr sz="3200">
                <a:solidFill>
                  <a:srgbClr val="54145A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333"/>
              </a:spcBef>
              <a:buClr>
                <a:srgbClr val="68246D"/>
              </a:buClr>
              <a:buFont typeface="Arial"/>
              <a:buChar char="•"/>
              <a:defRPr sz="3200">
                <a:solidFill>
                  <a:srgbClr val="54145A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333"/>
              </a:spcBef>
              <a:buFont typeface="Lucida Grande"/>
              <a:buChar char="–"/>
              <a:defRPr sz="3200">
                <a:solidFill>
                  <a:srgbClr val="54145A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46740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705600" y="4114798"/>
            <a:ext cx="1379855" cy="1371600"/>
          </a:xfrm>
          <a:custGeom>
            <a:avLst/>
            <a:gdLst/>
            <a:ahLst/>
            <a:cxnLst/>
            <a:rect l="l" t="t" r="r" b="b"/>
            <a:pathLst>
              <a:path w="1379854" h="1371600">
                <a:moveTo>
                  <a:pt x="1371600" y="0"/>
                </a:moveTo>
                <a:lnTo>
                  <a:pt x="0" y="1"/>
                </a:lnTo>
                <a:lnTo>
                  <a:pt x="1143" y="56376"/>
                </a:lnTo>
                <a:lnTo>
                  <a:pt x="3900" y="104096"/>
                </a:lnTo>
                <a:lnTo>
                  <a:pt x="8267" y="151363"/>
                </a:lnTo>
                <a:lnTo>
                  <a:pt x="14218" y="198148"/>
                </a:lnTo>
                <a:lnTo>
                  <a:pt x="21725" y="244427"/>
                </a:lnTo>
                <a:lnTo>
                  <a:pt x="30761" y="290170"/>
                </a:lnTo>
                <a:lnTo>
                  <a:pt x="41298" y="335352"/>
                </a:lnTo>
                <a:lnTo>
                  <a:pt x="53309" y="379944"/>
                </a:lnTo>
                <a:lnTo>
                  <a:pt x="66767" y="423921"/>
                </a:lnTo>
                <a:lnTo>
                  <a:pt x="81645" y="467255"/>
                </a:lnTo>
                <a:lnTo>
                  <a:pt x="97914" y="509919"/>
                </a:lnTo>
                <a:lnTo>
                  <a:pt x="115548" y="551886"/>
                </a:lnTo>
                <a:lnTo>
                  <a:pt x="134519" y="593129"/>
                </a:lnTo>
                <a:lnTo>
                  <a:pt x="154800" y="633622"/>
                </a:lnTo>
                <a:lnTo>
                  <a:pt x="176363" y="673336"/>
                </a:lnTo>
                <a:lnTo>
                  <a:pt x="199182" y="712244"/>
                </a:lnTo>
                <a:lnTo>
                  <a:pt x="223228" y="750321"/>
                </a:lnTo>
                <a:lnTo>
                  <a:pt x="248475" y="787539"/>
                </a:lnTo>
                <a:lnTo>
                  <a:pt x="274895" y="823870"/>
                </a:lnTo>
                <a:lnTo>
                  <a:pt x="302461" y="859288"/>
                </a:lnTo>
                <a:lnTo>
                  <a:pt x="331145" y="893766"/>
                </a:lnTo>
                <a:lnTo>
                  <a:pt x="360920" y="927276"/>
                </a:lnTo>
                <a:lnTo>
                  <a:pt x="391759" y="959792"/>
                </a:lnTo>
                <a:lnTo>
                  <a:pt x="423633" y="991287"/>
                </a:lnTo>
                <a:lnTo>
                  <a:pt x="456517" y="1021733"/>
                </a:lnTo>
                <a:lnTo>
                  <a:pt x="490383" y="1051104"/>
                </a:lnTo>
                <a:lnTo>
                  <a:pt x="525202" y="1079372"/>
                </a:lnTo>
                <a:lnTo>
                  <a:pt x="560948" y="1106511"/>
                </a:lnTo>
                <a:lnTo>
                  <a:pt x="597594" y="1132493"/>
                </a:lnTo>
                <a:lnTo>
                  <a:pt x="635112" y="1157291"/>
                </a:lnTo>
                <a:lnTo>
                  <a:pt x="673474" y="1180879"/>
                </a:lnTo>
                <a:lnTo>
                  <a:pt x="712654" y="1203229"/>
                </a:lnTo>
                <a:lnTo>
                  <a:pt x="752624" y="1224315"/>
                </a:lnTo>
                <a:lnTo>
                  <a:pt x="793356" y="1244109"/>
                </a:lnTo>
                <a:lnTo>
                  <a:pt x="834824" y="1262584"/>
                </a:lnTo>
                <a:lnTo>
                  <a:pt x="877000" y="1279713"/>
                </a:lnTo>
                <a:lnTo>
                  <a:pt x="919856" y="1295469"/>
                </a:lnTo>
                <a:lnTo>
                  <a:pt x="963365" y="1309825"/>
                </a:lnTo>
                <a:lnTo>
                  <a:pt x="1007500" y="1322754"/>
                </a:lnTo>
                <a:lnTo>
                  <a:pt x="1052234" y="1334230"/>
                </a:lnTo>
                <a:lnTo>
                  <a:pt x="1097539" y="1344224"/>
                </a:lnTo>
                <a:lnTo>
                  <a:pt x="1143387" y="1352711"/>
                </a:lnTo>
                <a:lnTo>
                  <a:pt x="1189752" y="1359662"/>
                </a:lnTo>
                <a:lnTo>
                  <a:pt x="1236606" y="1365051"/>
                </a:lnTo>
                <a:lnTo>
                  <a:pt x="1283921" y="1368851"/>
                </a:lnTo>
                <a:lnTo>
                  <a:pt x="1331671" y="1371035"/>
                </a:lnTo>
                <a:lnTo>
                  <a:pt x="1379828" y="1371575"/>
                </a:lnTo>
                <a:lnTo>
                  <a:pt x="13716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077200" y="0"/>
            <a:ext cx="4114800" cy="6858000"/>
          </a:xfrm>
          <a:custGeom>
            <a:avLst/>
            <a:gdLst/>
            <a:ahLst/>
            <a:cxnLst/>
            <a:rect l="l" t="t" r="r" b="b"/>
            <a:pathLst>
              <a:path w="4114800" h="6858000">
                <a:moveTo>
                  <a:pt x="4114749" y="4098340"/>
                </a:moveTo>
                <a:lnTo>
                  <a:pt x="2743200" y="4106570"/>
                </a:lnTo>
                <a:lnTo>
                  <a:pt x="2743200" y="2743200"/>
                </a:lnTo>
                <a:lnTo>
                  <a:pt x="1371600" y="2743200"/>
                </a:lnTo>
                <a:lnTo>
                  <a:pt x="0" y="2743200"/>
                </a:lnTo>
                <a:lnTo>
                  <a:pt x="0" y="4114800"/>
                </a:lnTo>
                <a:lnTo>
                  <a:pt x="1371600" y="4114800"/>
                </a:lnTo>
                <a:lnTo>
                  <a:pt x="1371600" y="5486400"/>
                </a:lnTo>
                <a:lnTo>
                  <a:pt x="0" y="5486400"/>
                </a:lnTo>
                <a:lnTo>
                  <a:pt x="0" y="6858000"/>
                </a:lnTo>
                <a:lnTo>
                  <a:pt x="1371600" y="6858000"/>
                </a:lnTo>
                <a:lnTo>
                  <a:pt x="1436306" y="6857251"/>
                </a:lnTo>
                <a:lnTo>
                  <a:pt x="1484350" y="6855714"/>
                </a:lnTo>
                <a:lnTo>
                  <a:pt x="1532178" y="6853364"/>
                </a:lnTo>
                <a:lnTo>
                  <a:pt x="1579791" y="6850202"/>
                </a:lnTo>
                <a:lnTo>
                  <a:pt x="1627174" y="6846240"/>
                </a:lnTo>
                <a:lnTo>
                  <a:pt x="1674317" y="6841464"/>
                </a:lnTo>
                <a:lnTo>
                  <a:pt x="1721231" y="6835915"/>
                </a:lnTo>
                <a:lnTo>
                  <a:pt x="1767890" y="6829565"/>
                </a:lnTo>
                <a:lnTo>
                  <a:pt x="1814296" y="6822453"/>
                </a:lnTo>
                <a:lnTo>
                  <a:pt x="1860448" y="6814553"/>
                </a:lnTo>
                <a:lnTo>
                  <a:pt x="1906320" y="6805892"/>
                </a:lnTo>
                <a:lnTo>
                  <a:pt x="1951939" y="6796481"/>
                </a:lnTo>
                <a:lnTo>
                  <a:pt x="1997252" y="6786321"/>
                </a:lnTo>
                <a:lnTo>
                  <a:pt x="2042299" y="6775412"/>
                </a:lnTo>
                <a:lnTo>
                  <a:pt x="2087041" y="6763766"/>
                </a:lnTo>
                <a:lnTo>
                  <a:pt x="2131479" y="6751383"/>
                </a:lnTo>
                <a:lnTo>
                  <a:pt x="2175611" y="6738290"/>
                </a:lnTo>
                <a:lnTo>
                  <a:pt x="2219439" y="6724472"/>
                </a:lnTo>
                <a:lnTo>
                  <a:pt x="2262936" y="6709943"/>
                </a:lnTo>
                <a:lnTo>
                  <a:pt x="2306104" y="6694716"/>
                </a:lnTo>
                <a:lnTo>
                  <a:pt x="2348941" y="6678790"/>
                </a:lnTo>
                <a:lnTo>
                  <a:pt x="2391435" y="6662179"/>
                </a:lnTo>
                <a:lnTo>
                  <a:pt x="2433574" y="6644881"/>
                </a:lnTo>
                <a:lnTo>
                  <a:pt x="2475369" y="6626911"/>
                </a:lnTo>
                <a:lnTo>
                  <a:pt x="2516797" y="6608267"/>
                </a:lnTo>
                <a:lnTo>
                  <a:pt x="2557856" y="6588963"/>
                </a:lnTo>
                <a:lnTo>
                  <a:pt x="2598534" y="6569011"/>
                </a:lnTo>
                <a:lnTo>
                  <a:pt x="2638831" y="6548399"/>
                </a:lnTo>
                <a:lnTo>
                  <a:pt x="2678747" y="6527152"/>
                </a:lnTo>
                <a:lnTo>
                  <a:pt x="2718270" y="6505283"/>
                </a:lnTo>
                <a:lnTo>
                  <a:pt x="2757373" y="6482766"/>
                </a:lnTo>
                <a:lnTo>
                  <a:pt x="2796082" y="6459639"/>
                </a:lnTo>
                <a:lnTo>
                  <a:pt x="2834373" y="6435903"/>
                </a:lnTo>
                <a:lnTo>
                  <a:pt x="2872232" y="6411544"/>
                </a:lnTo>
                <a:lnTo>
                  <a:pt x="2909671" y="6386601"/>
                </a:lnTo>
                <a:lnTo>
                  <a:pt x="2946666" y="6361049"/>
                </a:lnTo>
                <a:lnTo>
                  <a:pt x="2983230" y="6334925"/>
                </a:lnTo>
                <a:lnTo>
                  <a:pt x="3019336" y="6308217"/>
                </a:lnTo>
                <a:lnTo>
                  <a:pt x="3054985" y="6280937"/>
                </a:lnTo>
                <a:lnTo>
                  <a:pt x="3090164" y="6253086"/>
                </a:lnTo>
                <a:lnTo>
                  <a:pt x="3124885" y="6224676"/>
                </a:lnTo>
                <a:lnTo>
                  <a:pt x="3159125" y="6195720"/>
                </a:lnTo>
                <a:lnTo>
                  <a:pt x="3192881" y="6166205"/>
                </a:lnTo>
                <a:lnTo>
                  <a:pt x="3226143" y="6136170"/>
                </a:lnTo>
                <a:lnTo>
                  <a:pt x="3258909" y="6105588"/>
                </a:lnTo>
                <a:lnTo>
                  <a:pt x="3291179" y="6074486"/>
                </a:lnTo>
                <a:lnTo>
                  <a:pt x="3322929" y="6042863"/>
                </a:lnTo>
                <a:lnTo>
                  <a:pt x="3354171" y="6010732"/>
                </a:lnTo>
                <a:lnTo>
                  <a:pt x="3384880" y="5978106"/>
                </a:lnTo>
                <a:lnTo>
                  <a:pt x="3415055" y="5944971"/>
                </a:lnTo>
                <a:lnTo>
                  <a:pt x="3444710" y="5911342"/>
                </a:lnTo>
                <a:lnTo>
                  <a:pt x="3473805" y="5877242"/>
                </a:lnTo>
                <a:lnTo>
                  <a:pt x="3502355" y="5842660"/>
                </a:lnTo>
                <a:lnTo>
                  <a:pt x="3530333" y="5807595"/>
                </a:lnTo>
                <a:lnTo>
                  <a:pt x="3557765" y="5772086"/>
                </a:lnTo>
                <a:lnTo>
                  <a:pt x="3584613" y="5736107"/>
                </a:lnTo>
                <a:lnTo>
                  <a:pt x="3610889" y="5699684"/>
                </a:lnTo>
                <a:lnTo>
                  <a:pt x="3636581" y="5662815"/>
                </a:lnTo>
                <a:lnTo>
                  <a:pt x="3661676" y="5625516"/>
                </a:lnTo>
                <a:lnTo>
                  <a:pt x="3686175" y="5587784"/>
                </a:lnTo>
                <a:lnTo>
                  <a:pt x="3710076" y="5549620"/>
                </a:lnTo>
                <a:lnTo>
                  <a:pt x="3733355" y="5511050"/>
                </a:lnTo>
                <a:lnTo>
                  <a:pt x="3756012" y="5472074"/>
                </a:lnTo>
                <a:lnTo>
                  <a:pt x="3778059" y="5432691"/>
                </a:lnTo>
                <a:lnTo>
                  <a:pt x="3799459" y="5392915"/>
                </a:lnTo>
                <a:lnTo>
                  <a:pt x="3820223" y="5352758"/>
                </a:lnTo>
                <a:lnTo>
                  <a:pt x="3840340" y="5312207"/>
                </a:lnTo>
                <a:lnTo>
                  <a:pt x="3859809" y="5271287"/>
                </a:lnTo>
                <a:lnTo>
                  <a:pt x="3878618" y="5229999"/>
                </a:lnTo>
                <a:lnTo>
                  <a:pt x="3896766" y="5188356"/>
                </a:lnTo>
                <a:lnTo>
                  <a:pt x="3914229" y="5146357"/>
                </a:lnTo>
                <a:lnTo>
                  <a:pt x="3931018" y="5104003"/>
                </a:lnTo>
                <a:lnTo>
                  <a:pt x="3947122" y="5061318"/>
                </a:lnTo>
                <a:lnTo>
                  <a:pt x="3962527" y="5018290"/>
                </a:lnTo>
                <a:lnTo>
                  <a:pt x="3977246" y="4974945"/>
                </a:lnTo>
                <a:lnTo>
                  <a:pt x="3991241" y="4931270"/>
                </a:lnTo>
                <a:lnTo>
                  <a:pt x="4004538" y="4887290"/>
                </a:lnTo>
                <a:lnTo>
                  <a:pt x="4017099" y="4843005"/>
                </a:lnTo>
                <a:lnTo>
                  <a:pt x="4028948" y="4798415"/>
                </a:lnTo>
                <a:lnTo>
                  <a:pt x="4040060" y="4753534"/>
                </a:lnTo>
                <a:lnTo>
                  <a:pt x="4050423" y="4708372"/>
                </a:lnTo>
                <a:lnTo>
                  <a:pt x="4060037" y="4662932"/>
                </a:lnTo>
                <a:lnTo>
                  <a:pt x="4068915" y="4617212"/>
                </a:lnTo>
                <a:lnTo>
                  <a:pt x="4077017" y="4571225"/>
                </a:lnTo>
                <a:lnTo>
                  <a:pt x="4084358" y="4524984"/>
                </a:lnTo>
                <a:lnTo>
                  <a:pt x="4090924" y="4478502"/>
                </a:lnTo>
                <a:lnTo>
                  <a:pt x="4096702" y="4431766"/>
                </a:lnTo>
                <a:lnTo>
                  <a:pt x="4101693" y="4384789"/>
                </a:lnTo>
                <a:lnTo>
                  <a:pt x="4105897" y="4337583"/>
                </a:lnTo>
                <a:lnTo>
                  <a:pt x="4109301" y="4290161"/>
                </a:lnTo>
                <a:lnTo>
                  <a:pt x="4111891" y="4242511"/>
                </a:lnTo>
                <a:lnTo>
                  <a:pt x="4113669" y="4194657"/>
                </a:lnTo>
                <a:lnTo>
                  <a:pt x="4114622" y="4146600"/>
                </a:lnTo>
                <a:lnTo>
                  <a:pt x="4114749" y="4098340"/>
                </a:lnTo>
                <a:close/>
              </a:path>
              <a:path w="4114800" h="6858000">
                <a:moveTo>
                  <a:pt x="4114800" y="0"/>
                </a:moveTo>
                <a:lnTo>
                  <a:pt x="2743200" y="0"/>
                </a:lnTo>
                <a:lnTo>
                  <a:pt x="1371600" y="0"/>
                </a:lnTo>
                <a:lnTo>
                  <a:pt x="1371600" y="1371600"/>
                </a:lnTo>
                <a:lnTo>
                  <a:pt x="2743200" y="1371600"/>
                </a:lnTo>
                <a:lnTo>
                  <a:pt x="2743200" y="2743200"/>
                </a:lnTo>
                <a:lnTo>
                  <a:pt x="4114800" y="2743200"/>
                </a:lnTo>
                <a:lnTo>
                  <a:pt x="4114800" y="1371600"/>
                </a:lnTo>
                <a:lnTo>
                  <a:pt x="41148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3540" y="1599691"/>
            <a:ext cx="3837304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4237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66879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08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32458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86644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189BA-01D0-0648-AF2A-6B4CD6B57EC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F0FCF-E24C-CA41-A373-9E4EFBCD4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88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2" r:id="rId6"/>
    <p:sldLayoutId id="2147483659" r:id="rId7"/>
    <p:sldLayoutId id="2147483660" r:id="rId8"/>
    <p:sldLayoutId id="2147483658" r:id="rId9"/>
    <p:sldLayoutId id="2147483661" r:id="rId10"/>
    <p:sldLayoutId id="2147483662" r:id="rId11"/>
    <p:sldLayoutId id="2147483663" r:id="rId12"/>
    <p:sldLayoutId id="2147483664" r:id="rId13"/>
    <p:sldLayoutId id="2147483665" r:id="rId14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Understanding Convolutional Neural Networks (CNNs)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- Understand the intuition behind convolutions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Explain kernels, filters, and feature maps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Describe padding, strides, and pooling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Discuss activation functions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Explore typical CNN architectures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Outline training strategies including loss and optimization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Identify overfitting and regularization techniques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Intuition of Convolution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In essence, convolution is the application of a filter to an input that results in a feature map. But why do we do this?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Kernels and Feature Maps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Kernels, or filters, slide over the input data to produce feature maps by applying mathematical operations.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pic>
        <p:nvPicPr>
          <p:cNvPr id="5" name="Picture 4" descr="generated_co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Padding and Stride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Padding adds layers of zeros to the input data to preserve spatial dimensions. Stride controls how much the filter moves with each step.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Pooling: Reducing Dimensions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Pooling layers, such as max pooling, reduce dimensionality and help with overfitting by down-sampling the input representation.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CNNs: Loss and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- Loss functions quantify the difference between predicted outputs and true values.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Optimizers, like SGD and Adam, adjust weights to minimize loss.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 Overview of Overfitting and Regularization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Regularization techniques such as dropout help prevent a model from capturing noise in the training data, which can lead to overfitting.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pic>
        <p:nvPicPr>
          <p:cNvPr id="5" name="Picture 4" descr="generated_co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urham University">
      <a:dk1>
        <a:srgbClr val="002A41"/>
      </a:dk1>
      <a:lt1>
        <a:sysClr val="window" lastClr="FFFFFF"/>
      </a:lt1>
      <a:dk2>
        <a:srgbClr val="54145A"/>
      </a:dk2>
      <a:lt2>
        <a:srgbClr val="CBA8B1"/>
      </a:lt2>
      <a:accent1>
        <a:srgbClr val="00AEEF"/>
      </a:accent1>
      <a:accent2>
        <a:srgbClr val="A5C8D0"/>
      </a:accent2>
      <a:accent3>
        <a:srgbClr val="AFA961"/>
      </a:accent3>
      <a:accent4>
        <a:srgbClr val="B3BDB1"/>
      </a:accent4>
      <a:accent5>
        <a:srgbClr val="FFD53A"/>
      </a:accent5>
      <a:accent6>
        <a:srgbClr val="DACDA2"/>
      </a:accent6>
      <a:hlink>
        <a:srgbClr val="BE1E2D"/>
      </a:hlink>
      <a:folHlink>
        <a:srgbClr val="B6AAA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urham University_powerpoint 29.08.19 FINAL.potx" id="{15F0B36B-451E-467F-AC1D-6B634029385F}" vid="{75B5DF01-1AD8-4B24-959A-92377C0E24AC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e6f4c5e-d68b-487b-9c02-caf7e61d6b66">
      <Terms xmlns="http://schemas.microsoft.com/office/infopath/2007/PartnerControls"/>
    </lcf76f155ced4ddcb4097134ff3c332f>
    <TaxCatchAll xmlns="3bf6d2de-cfb7-466c-825b-051a8e3c8b7d" xsi:nil="true"/>
    <SharedWithUsers xmlns="a0bf372a-9d90-4a81-85ce-8e7bbe717490">
      <UserInfo>
        <DisplayName>PRZYBORSKI, STEFAN A.</DisplayName>
        <AccountId>131</AccountId>
        <AccountType/>
      </UserInfo>
      <UserInfo>
        <DisplayName>ROBINSON, MATTHEW</DisplayName>
        <AccountId>50</AccountId>
        <AccountType/>
      </UserInfo>
      <UserInfo>
        <DisplayName>WEBSTER, PAULA</DisplayName>
        <AccountId>65</AccountId>
        <AccountType/>
      </UserInfo>
      <UserInfo>
        <DisplayName>MCDONALD, CLAIRE</DisplayName>
        <AccountId>16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7F80A658ED444C8098A6C8835B3712" ma:contentTypeVersion="16" ma:contentTypeDescription="Create a new document." ma:contentTypeScope="" ma:versionID="5d2edc2167da6d1bb792dea4684e7ecf">
  <xsd:schema xmlns:xsd="http://www.w3.org/2001/XMLSchema" xmlns:xs="http://www.w3.org/2001/XMLSchema" xmlns:p="http://schemas.microsoft.com/office/2006/metadata/properties" xmlns:ns2="6e6f4c5e-d68b-487b-9c02-caf7e61d6b66" xmlns:ns3="a0bf372a-9d90-4a81-85ce-8e7bbe717490" xmlns:ns4="3bf6d2de-cfb7-466c-825b-051a8e3c8b7d" targetNamespace="http://schemas.microsoft.com/office/2006/metadata/properties" ma:root="true" ma:fieldsID="b1a976468ab75df09cdefb8882f83837" ns2:_="" ns3:_="" ns4:_="">
    <xsd:import namespace="6e6f4c5e-d68b-487b-9c02-caf7e61d6b66"/>
    <xsd:import namespace="a0bf372a-9d90-4a81-85ce-8e7bbe717490"/>
    <xsd:import namespace="3bf6d2de-cfb7-466c-825b-051a8e3c8b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4:TaxCatchAll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6f4c5e-d68b-487b-9c02-caf7e61d6b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d651d785-cc9b-461e-a4c9-c589c330f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bf372a-9d90-4a81-85ce-8e7bbe71749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f6d2de-cfb7-466c-825b-051a8e3c8b7d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cf60340b-b3ab-4429-ad0e-954f6226807c}" ma:internalName="TaxCatchAll" ma:showField="CatchAllData" ma:web="a0bf372a-9d90-4a81-85ce-8e7bbe7174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24A268-B20B-44AC-8616-436FFCA704C5}">
  <ds:schemaRefs>
    <ds:schemaRef ds:uri="3bf6d2de-cfb7-466c-825b-051a8e3c8b7d"/>
    <ds:schemaRef ds:uri="6e6f4c5e-d68b-487b-9c02-caf7e61d6b66"/>
    <ds:schemaRef ds:uri="http://schemas.microsoft.com/office/2006/metadata/properties"/>
    <ds:schemaRef ds:uri="http://schemas.microsoft.com/office/infopath/2007/PartnerControls"/>
    <ds:schemaRef ds:uri="a0bf372a-9d90-4a81-85ce-8e7bbe717490"/>
  </ds:schemaRefs>
</ds:datastoreItem>
</file>

<file path=customXml/itemProps2.xml><?xml version="1.0" encoding="utf-8"?>
<ds:datastoreItem xmlns:ds="http://schemas.openxmlformats.org/officeDocument/2006/customXml" ds:itemID="{1DE96671-C665-44F0-AC6D-2E9A17D50B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D16294-DC56-4215-A5F8-1F17988B5EFC}">
  <ds:schemaRefs>
    <ds:schemaRef ds:uri="3bf6d2de-cfb7-466c-825b-051a8e3c8b7d"/>
    <ds:schemaRef ds:uri="6e6f4c5e-d68b-487b-9c02-caf7e61d6b66"/>
    <ds:schemaRef ds:uri="a0bf372a-9d90-4a81-85ce-8e7bbe71749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776</TotalTime>
  <Words>143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Lucida Grande</vt:lpstr>
      <vt:lpstr>Arial</vt:lpstr>
      <vt:lpstr>Calibri</vt:lpstr>
      <vt:lpstr>Wingdings</vt:lpstr>
      <vt:lpstr>Office Theme</vt:lpstr>
      <vt:lpstr>  Main Topic    subtopic         </vt:lpstr>
      <vt:lpstr>Overview</vt:lpstr>
      <vt:lpstr>Part 1</vt:lpstr>
      <vt:lpstr>Part 2</vt:lpstr>
      <vt:lpstr>Part n</vt:lpstr>
      <vt:lpstr>Ending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MCDONALD, CLAIRE</dc:creator>
  <cp:lastModifiedBy>PANG, CARLOS S. (Student)</cp:lastModifiedBy>
  <cp:revision>126</cp:revision>
  <dcterms:created xsi:type="dcterms:W3CDTF">2022-08-10T15:52:35Z</dcterms:created>
  <dcterms:modified xsi:type="dcterms:W3CDTF">2026-01-08T06:41:32Z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0x010100767F80A658ED444C8098A6C8835B3712</vt:lpwstr>
  </property>
  <property fmtid="{D5CDD505-2E9C-101B-9397-08002B2CF9AE}" pid="3" name="MediaServiceImageTags">
    <vt:lpwstr/>
  </property>
</Properties>
</file>